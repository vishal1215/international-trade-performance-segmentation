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82" r:id="rId7"/>
    <p:sldId id="263" r:id="rId8"/>
    <p:sldId id="264" r:id="rId9"/>
    <p:sldId id="265" r:id="rId10"/>
    <p:sldId id="284" r:id="rId11"/>
  </p:sldIdLst>
  <p:sldSz cx="18288000" cy="10287000"/>
  <p:notesSz cx="6858000" cy="9144000"/>
  <p:embeddedFontLst>
    <p:embeddedFont>
      <p:font typeface="等线" panose="02010600030101010101" pitchFamily="2" charset="-122"/>
      <p:regular r:id="rId13"/>
      <p:bold r:id="rId14"/>
    </p:embeddedFont>
    <p:embeddedFont>
      <p:font typeface="Gabriola" pitchFamily="82" charset="0"/>
      <p:regular r:id="rId15"/>
    </p:embeddedFont>
    <p:embeddedFont>
      <p:font typeface="Poppins" pitchFamily="2" charset="77"/>
      <p:regular r:id="rId16"/>
      <p:bold r:id="rId17"/>
      <p:italic r:id="rId18"/>
      <p:boldItalic r:id="rId19"/>
    </p:embeddedFont>
    <p:embeddedFont>
      <p:font typeface="Poppins Bold" pitchFamily="2" charset="77"/>
      <p:regular r:id="rId20"/>
      <p:bold r:id="rId21"/>
    </p:embeddedFont>
    <p:embeddedFont>
      <p:font typeface="Poppins Bold Italics" pitchFamily="2" charset="77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9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3D7"/>
    <a:srgbClr val="558ED5"/>
    <a:srgbClr val="376092"/>
    <a:srgbClr val="115E89"/>
    <a:srgbClr val="17375E"/>
    <a:srgbClr val="1A61C0"/>
    <a:srgbClr val="064DAB"/>
    <a:srgbClr val="275183"/>
    <a:srgbClr val="07239A"/>
    <a:srgbClr val="005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10" autoAdjust="0"/>
    <p:restoredTop sz="94589" autoAdjust="0"/>
  </p:normalViewPr>
  <p:slideViewPr>
    <p:cSldViewPr>
      <p:cViewPr varScale="1">
        <p:scale>
          <a:sx n="80" d="100"/>
          <a:sy n="80" d="100"/>
        </p:scale>
        <p:origin x="1224" y="200"/>
      </p:cViewPr>
      <p:guideLst>
        <p:guide orient="horz" pos="2160"/>
        <p:guide pos="9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40AA0-1E19-44B5-92BB-CC638035AD6F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FB48A-8015-4948-AED9-3B4DB0A7B2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074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FB48A-8015-4948-AED9-3B4DB0A7B27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027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FB48A-8015-4948-AED9-3B4DB0A7B27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972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7694" y="3075646"/>
            <a:ext cx="11639161" cy="128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0"/>
              </a:lnSpc>
            </a:pPr>
            <a:r>
              <a:rPr lang="en-US" sz="8500" spc="-5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INTERNATIONAL TRADE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7694" y="4355175"/>
            <a:ext cx="4850210" cy="122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spc="-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6" name="Freeform 6"/>
          <p:cNvSpPr/>
          <p:nvPr/>
        </p:nvSpPr>
        <p:spPr>
          <a:xfrm>
            <a:off x="11049000" y="-943942"/>
            <a:ext cx="22566900" cy="8499785"/>
          </a:xfrm>
          <a:custGeom>
            <a:avLst/>
            <a:gdLst/>
            <a:ahLst/>
            <a:cxnLst/>
            <a:rect l="l" t="t" r="r" b="b"/>
            <a:pathLst>
              <a:path w="22566900" h="8499785">
                <a:moveTo>
                  <a:pt x="0" y="0"/>
                </a:moveTo>
                <a:lnTo>
                  <a:pt x="22566900" y="0"/>
                </a:lnTo>
                <a:lnTo>
                  <a:pt x="22566900" y="8499785"/>
                </a:lnTo>
                <a:lnTo>
                  <a:pt x="0" y="8499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>
          <a:xfrm>
            <a:off x="7167274" y="4672419"/>
            <a:ext cx="9416802" cy="4787753"/>
          </a:xfrm>
          <a:custGeom>
            <a:avLst/>
            <a:gdLst/>
            <a:ahLst/>
            <a:cxnLst/>
            <a:rect l="l" t="t" r="r" b="b"/>
            <a:pathLst>
              <a:path w="9416802" h="4787753">
                <a:moveTo>
                  <a:pt x="0" y="0"/>
                </a:moveTo>
                <a:lnTo>
                  <a:pt x="9416802" y="0"/>
                </a:lnTo>
                <a:lnTo>
                  <a:pt x="9416802" y="4787753"/>
                </a:lnTo>
                <a:lnTo>
                  <a:pt x="0" y="4787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-10800000">
            <a:off x="-7162801" y="7886700"/>
            <a:ext cx="11353800" cy="4492692"/>
          </a:xfrm>
          <a:custGeom>
            <a:avLst/>
            <a:gdLst/>
            <a:ahLst/>
            <a:cxnLst/>
            <a:rect l="l" t="t" r="r" b="b"/>
            <a:pathLst>
              <a:path w="11237547" h="4232603">
                <a:moveTo>
                  <a:pt x="0" y="0"/>
                </a:moveTo>
                <a:lnTo>
                  <a:pt x="11237547" y="0"/>
                </a:lnTo>
                <a:lnTo>
                  <a:pt x="11237547" y="4232604"/>
                </a:lnTo>
                <a:lnTo>
                  <a:pt x="0" y="4232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46849" y="-1054001"/>
            <a:ext cx="19897509" cy="7494363"/>
          </a:xfrm>
          <a:custGeom>
            <a:avLst/>
            <a:gdLst/>
            <a:ahLst/>
            <a:cxnLst/>
            <a:rect l="l" t="t" r="r" b="b"/>
            <a:pathLst>
              <a:path w="19897509" h="7494363">
                <a:moveTo>
                  <a:pt x="0" y="0"/>
                </a:moveTo>
                <a:lnTo>
                  <a:pt x="19897509" y="0"/>
                </a:lnTo>
                <a:lnTo>
                  <a:pt x="19897509" y="7494363"/>
                </a:lnTo>
                <a:lnTo>
                  <a:pt x="0" y="749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733543" y="2400300"/>
            <a:ext cx="14498782" cy="7248349"/>
          </a:xfrm>
          <a:custGeom>
            <a:avLst/>
            <a:gdLst/>
            <a:ahLst/>
            <a:cxnLst/>
            <a:rect l="l" t="t" r="r" b="b"/>
            <a:pathLst>
              <a:path w="15194241" h="7725157">
                <a:moveTo>
                  <a:pt x="0" y="0"/>
                </a:moveTo>
                <a:lnTo>
                  <a:pt x="15194241" y="0"/>
                </a:lnTo>
                <a:lnTo>
                  <a:pt x="15194241" y="7725157"/>
                </a:lnTo>
                <a:lnTo>
                  <a:pt x="0" y="7725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effectLst>
            <a:reflection endPos="65000" dist="50800" dir="5400000" sy="-100000" algn="bl" rotWithShape="0"/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-6822832" y="7532347"/>
            <a:ext cx="11237547" cy="4232603"/>
          </a:xfrm>
          <a:custGeom>
            <a:avLst/>
            <a:gdLst/>
            <a:ahLst/>
            <a:cxnLst/>
            <a:rect l="l" t="t" r="r" b="b"/>
            <a:pathLst>
              <a:path w="11237547" h="4232603">
                <a:moveTo>
                  <a:pt x="0" y="0"/>
                </a:moveTo>
                <a:lnTo>
                  <a:pt x="11237547" y="0"/>
                </a:lnTo>
                <a:lnTo>
                  <a:pt x="11237547" y="4232604"/>
                </a:lnTo>
                <a:lnTo>
                  <a:pt x="0" y="4232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33543" y="1019175"/>
            <a:ext cx="5475672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spc="-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3543" y="2898581"/>
            <a:ext cx="17244246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600" b="1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Global Trade and Identify Strategic Investment Opportunities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4076" y="3751773"/>
            <a:ext cx="17523713" cy="4948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8000"/>
              </a:lnSpc>
              <a:buFont typeface="Arial"/>
              <a:buChar char="•"/>
            </a:pPr>
            <a:r>
              <a:rPr lang="en-US" sz="3200" spc="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is happening in global trade, and how is it linked to economic prosperity?</a:t>
            </a:r>
          </a:p>
          <a:p>
            <a:pPr marL="690881" lvl="1" indent="-345440" algn="l">
              <a:lnSpc>
                <a:spcPts val="8000"/>
              </a:lnSpc>
              <a:buFont typeface="Arial"/>
              <a:buChar char="•"/>
            </a:pPr>
            <a:r>
              <a:rPr lang="en-US" sz="3200" spc="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Which products and countries dominate global trade?</a:t>
            </a:r>
          </a:p>
          <a:p>
            <a:pPr marL="690881" lvl="1" indent="-345440" algn="l">
              <a:lnSpc>
                <a:spcPts val="8000"/>
              </a:lnSpc>
              <a:buFont typeface="Arial"/>
              <a:buChar char="•"/>
            </a:pPr>
            <a:r>
              <a:rPr lang="en-US" sz="3200" spc="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should companies allocate their trade-related investments?</a:t>
            </a:r>
          </a:p>
          <a:p>
            <a:pPr marL="690881" lvl="1" indent="-345440" algn="l">
              <a:lnSpc>
                <a:spcPts val="8000"/>
              </a:lnSpc>
              <a:buFont typeface="Arial"/>
              <a:buChar char="•"/>
            </a:pPr>
            <a:r>
              <a:rPr lang="en-US" sz="3200" spc="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is the future outlook for the key countries targeted by investors?</a:t>
            </a:r>
          </a:p>
          <a:p>
            <a:pPr algn="l">
              <a:lnSpc>
                <a:spcPts val="8000"/>
              </a:lnSpc>
            </a:pPr>
            <a:endParaRPr lang="en-US" sz="3200" spc="64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12">
            <a:extLst>
              <a:ext uri="{FF2B5EF4-FFF2-40B4-BE49-F238E27FC236}">
                <a16:creationId xmlns:a16="http://schemas.microsoft.com/office/drawing/2014/main" id="{79AAD8F0-F934-D50F-4545-C1E879C95C9D}"/>
              </a:ext>
            </a:extLst>
          </p:cNvPr>
          <p:cNvGrpSpPr/>
          <p:nvPr/>
        </p:nvGrpSpPr>
        <p:grpSpPr>
          <a:xfrm>
            <a:off x="8450689" y="3450115"/>
            <a:ext cx="868530" cy="3026878"/>
            <a:chOff x="-36368" y="-47625"/>
            <a:chExt cx="165615" cy="577177"/>
          </a:xfrm>
        </p:grpSpPr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AC7BA1A9-805B-4179-1A10-4D76E9C39413}"/>
                </a:ext>
              </a:extLst>
            </p:cNvPr>
            <p:cNvSpPr/>
            <p:nvPr/>
          </p:nvSpPr>
          <p:spPr>
            <a:xfrm>
              <a:off x="-36368" y="-2967"/>
              <a:ext cx="165615" cy="529552"/>
            </a:xfrm>
            <a:custGeom>
              <a:avLst/>
              <a:gdLst/>
              <a:ahLst/>
              <a:cxnLst/>
              <a:rect l="l" t="t" r="r" b="b"/>
              <a:pathLst>
                <a:path w="165615" h="529552">
                  <a:moveTo>
                    <a:pt x="2044" y="0"/>
                  </a:moveTo>
                  <a:lnTo>
                    <a:pt x="2044" y="0"/>
                  </a:lnTo>
                  <a:cubicBezTo>
                    <a:pt x="1502" y="0"/>
                    <a:pt x="982" y="215"/>
                    <a:pt x="599" y="599"/>
                  </a:cubicBezTo>
                  <a:cubicBezTo>
                    <a:pt x="215" y="982"/>
                    <a:pt x="0" y="1502"/>
                    <a:pt x="0" y="2044"/>
                  </a:cubicBezTo>
                  <a:lnTo>
                    <a:pt x="0" y="527508"/>
                  </a:lnTo>
                  <a:cubicBezTo>
                    <a:pt x="0" y="528050"/>
                    <a:pt x="215" y="528570"/>
                    <a:pt x="599" y="528953"/>
                  </a:cubicBezTo>
                  <a:cubicBezTo>
                    <a:pt x="982" y="529336"/>
                    <a:pt x="1502" y="529552"/>
                    <a:pt x="2044" y="529552"/>
                  </a:cubicBezTo>
                  <a:lnTo>
                    <a:pt x="2044" y="529552"/>
                  </a:lnTo>
                  <a:cubicBezTo>
                    <a:pt x="3333" y="529552"/>
                    <a:pt x="4549" y="528953"/>
                    <a:pt x="5333" y="527930"/>
                  </a:cubicBezTo>
                  <a:lnTo>
                    <a:pt x="105689" y="397164"/>
                  </a:lnTo>
                  <a:cubicBezTo>
                    <a:pt x="165615" y="319078"/>
                    <a:pt x="165615" y="210474"/>
                    <a:pt x="105689" y="132388"/>
                  </a:cubicBezTo>
                  <a:lnTo>
                    <a:pt x="5333" y="1622"/>
                  </a:lnTo>
                  <a:cubicBezTo>
                    <a:pt x="4549" y="599"/>
                    <a:pt x="3333" y="0"/>
                    <a:pt x="2044" y="0"/>
                  </a:cubicBezTo>
                  <a:close/>
                </a:path>
              </a:pathLst>
            </a:custGeom>
            <a:solidFill>
              <a:srgbClr val="5F7D95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TextBox 14">
              <a:extLst>
                <a:ext uri="{FF2B5EF4-FFF2-40B4-BE49-F238E27FC236}">
                  <a16:creationId xmlns:a16="http://schemas.microsoft.com/office/drawing/2014/main" id="{1259783E-4411-A2E0-F665-00B34CAEAD97}"/>
                </a:ext>
              </a:extLst>
            </p:cNvPr>
            <p:cNvSpPr txBox="1"/>
            <p:nvPr/>
          </p:nvSpPr>
          <p:spPr>
            <a:xfrm>
              <a:off x="0" y="-47625"/>
              <a:ext cx="92989" cy="577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470838" y="1850891"/>
            <a:ext cx="4323603" cy="6423280"/>
            <a:chOff x="0" y="0"/>
            <a:chExt cx="1138727" cy="16917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8727" cy="1691728"/>
            </a:xfrm>
            <a:custGeom>
              <a:avLst/>
              <a:gdLst/>
              <a:ahLst/>
              <a:cxnLst/>
              <a:rect l="l" t="t" r="r" b="b"/>
              <a:pathLst>
                <a:path w="1138727" h="1691728">
                  <a:moveTo>
                    <a:pt x="53719" y="0"/>
                  </a:moveTo>
                  <a:lnTo>
                    <a:pt x="1085008" y="0"/>
                  </a:lnTo>
                  <a:cubicBezTo>
                    <a:pt x="1099255" y="0"/>
                    <a:pt x="1112919" y="5660"/>
                    <a:pt x="1122993" y="15734"/>
                  </a:cubicBezTo>
                  <a:cubicBezTo>
                    <a:pt x="1133067" y="25808"/>
                    <a:pt x="1138727" y="39471"/>
                    <a:pt x="1138727" y="53719"/>
                  </a:cubicBezTo>
                  <a:lnTo>
                    <a:pt x="1138727" y="1638010"/>
                  </a:lnTo>
                  <a:cubicBezTo>
                    <a:pt x="1138727" y="1652257"/>
                    <a:pt x="1133067" y="1665920"/>
                    <a:pt x="1122993" y="1675994"/>
                  </a:cubicBezTo>
                  <a:cubicBezTo>
                    <a:pt x="1112919" y="1686068"/>
                    <a:pt x="1099255" y="1691728"/>
                    <a:pt x="1085008" y="1691728"/>
                  </a:cubicBezTo>
                  <a:lnTo>
                    <a:pt x="53719" y="1691728"/>
                  </a:lnTo>
                  <a:cubicBezTo>
                    <a:pt x="39471" y="1691728"/>
                    <a:pt x="25808" y="1686068"/>
                    <a:pt x="15734" y="1675994"/>
                  </a:cubicBezTo>
                  <a:cubicBezTo>
                    <a:pt x="5660" y="1665920"/>
                    <a:pt x="0" y="1652257"/>
                    <a:pt x="0" y="1638010"/>
                  </a:cubicBezTo>
                  <a:lnTo>
                    <a:pt x="0" y="53719"/>
                  </a:lnTo>
                  <a:cubicBezTo>
                    <a:pt x="0" y="39471"/>
                    <a:pt x="5660" y="25808"/>
                    <a:pt x="15734" y="15734"/>
                  </a:cubicBezTo>
                  <a:cubicBezTo>
                    <a:pt x="25808" y="5660"/>
                    <a:pt x="39471" y="0"/>
                    <a:pt x="53719" y="0"/>
                  </a:cubicBezTo>
                  <a:close/>
                </a:path>
              </a:pathLst>
            </a:custGeom>
            <a:solidFill>
              <a:srgbClr val="869FB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138727" cy="1739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53" name="Group 12">
            <a:extLst>
              <a:ext uri="{FF2B5EF4-FFF2-40B4-BE49-F238E27FC236}">
                <a16:creationId xmlns:a16="http://schemas.microsoft.com/office/drawing/2014/main" id="{8BC1FD50-7F04-768F-0EC6-7192E9ABEF7E}"/>
              </a:ext>
            </a:extLst>
          </p:cNvPr>
          <p:cNvGrpSpPr/>
          <p:nvPr/>
        </p:nvGrpSpPr>
        <p:grpSpPr>
          <a:xfrm>
            <a:off x="12996371" y="3450115"/>
            <a:ext cx="868530" cy="3026878"/>
            <a:chOff x="-36368" y="-47625"/>
            <a:chExt cx="165615" cy="577177"/>
          </a:xfrm>
        </p:grpSpPr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9FBEC810-61AB-FE4E-1948-6650E849D963}"/>
                </a:ext>
              </a:extLst>
            </p:cNvPr>
            <p:cNvSpPr/>
            <p:nvPr/>
          </p:nvSpPr>
          <p:spPr>
            <a:xfrm>
              <a:off x="-36368" y="-2967"/>
              <a:ext cx="165615" cy="529552"/>
            </a:xfrm>
            <a:custGeom>
              <a:avLst/>
              <a:gdLst/>
              <a:ahLst/>
              <a:cxnLst/>
              <a:rect l="l" t="t" r="r" b="b"/>
              <a:pathLst>
                <a:path w="165615" h="529552">
                  <a:moveTo>
                    <a:pt x="2044" y="0"/>
                  </a:moveTo>
                  <a:lnTo>
                    <a:pt x="2044" y="0"/>
                  </a:lnTo>
                  <a:cubicBezTo>
                    <a:pt x="1502" y="0"/>
                    <a:pt x="982" y="215"/>
                    <a:pt x="599" y="599"/>
                  </a:cubicBezTo>
                  <a:cubicBezTo>
                    <a:pt x="215" y="982"/>
                    <a:pt x="0" y="1502"/>
                    <a:pt x="0" y="2044"/>
                  </a:cubicBezTo>
                  <a:lnTo>
                    <a:pt x="0" y="527508"/>
                  </a:lnTo>
                  <a:cubicBezTo>
                    <a:pt x="0" y="528050"/>
                    <a:pt x="215" y="528570"/>
                    <a:pt x="599" y="528953"/>
                  </a:cubicBezTo>
                  <a:cubicBezTo>
                    <a:pt x="982" y="529336"/>
                    <a:pt x="1502" y="529552"/>
                    <a:pt x="2044" y="529552"/>
                  </a:cubicBezTo>
                  <a:lnTo>
                    <a:pt x="2044" y="529552"/>
                  </a:lnTo>
                  <a:cubicBezTo>
                    <a:pt x="3333" y="529552"/>
                    <a:pt x="4549" y="528953"/>
                    <a:pt x="5333" y="527930"/>
                  </a:cubicBezTo>
                  <a:lnTo>
                    <a:pt x="105689" y="397164"/>
                  </a:lnTo>
                  <a:cubicBezTo>
                    <a:pt x="165615" y="319078"/>
                    <a:pt x="165615" y="210474"/>
                    <a:pt x="105689" y="132388"/>
                  </a:cubicBezTo>
                  <a:lnTo>
                    <a:pt x="5333" y="1622"/>
                  </a:lnTo>
                  <a:cubicBezTo>
                    <a:pt x="4549" y="599"/>
                    <a:pt x="3333" y="0"/>
                    <a:pt x="2044" y="0"/>
                  </a:cubicBezTo>
                  <a:close/>
                </a:path>
              </a:pathLst>
            </a:custGeom>
            <a:solidFill>
              <a:srgbClr val="5F7D95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TextBox 14">
              <a:extLst>
                <a:ext uri="{FF2B5EF4-FFF2-40B4-BE49-F238E27FC236}">
                  <a16:creationId xmlns:a16="http://schemas.microsoft.com/office/drawing/2014/main" id="{BC8E1EF1-3718-992A-F717-A03751D1BFFD}"/>
                </a:ext>
              </a:extLst>
            </p:cNvPr>
            <p:cNvSpPr txBox="1"/>
            <p:nvPr/>
          </p:nvSpPr>
          <p:spPr>
            <a:xfrm>
              <a:off x="0" y="-47625"/>
              <a:ext cx="92989" cy="577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33367" y="3673972"/>
            <a:ext cx="1087080" cy="2777119"/>
            <a:chOff x="0" y="0"/>
            <a:chExt cx="207289" cy="529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5615" cy="529552"/>
            </a:xfrm>
            <a:custGeom>
              <a:avLst/>
              <a:gdLst/>
              <a:ahLst/>
              <a:cxnLst/>
              <a:rect l="l" t="t" r="r" b="b"/>
              <a:pathLst>
                <a:path w="165615" h="529552">
                  <a:moveTo>
                    <a:pt x="2044" y="0"/>
                  </a:moveTo>
                  <a:lnTo>
                    <a:pt x="2044" y="0"/>
                  </a:lnTo>
                  <a:cubicBezTo>
                    <a:pt x="1502" y="0"/>
                    <a:pt x="982" y="215"/>
                    <a:pt x="599" y="599"/>
                  </a:cubicBezTo>
                  <a:cubicBezTo>
                    <a:pt x="215" y="982"/>
                    <a:pt x="0" y="1502"/>
                    <a:pt x="0" y="2044"/>
                  </a:cubicBezTo>
                  <a:lnTo>
                    <a:pt x="0" y="527508"/>
                  </a:lnTo>
                  <a:cubicBezTo>
                    <a:pt x="0" y="528050"/>
                    <a:pt x="215" y="528570"/>
                    <a:pt x="599" y="528953"/>
                  </a:cubicBezTo>
                  <a:cubicBezTo>
                    <a:pt x="982" y="529336"/>
                    <a:pt x="1502" y="529552"/>
                    <a:pt x="2044" y="529552"/>
                  </a:cubicBezTo>
                  <a:lnTo>
                    <a:pt x="2044" y="529552"/>
                  </a:lnTo>
                  <a:cubicBezTo>
                    <a:pt x="3333" y="529552"/>
                    <a:pt x="4549" y="528953"/>
                    <a:pt x="5333" y="527930"/>
                  </a:cubicBezTo>
                  <a:lnTo>
                    <a:pt x="105689" y="397164"/>
                  </a:lnTo>
                  <a:cubicBezTo>
                    <a:pt x="165615" y="319078"/>
                    <a:pt x="165615" y="210474"/>
                    <a:pt x="105689" y="132388"/>
                  </a:cubicBezTo>
                  <a:lnTo>
                    <a:pt x="5333" y="1622"/>
                  </a:lnTo>
                  <a:cubicBezTo>
                    <a:pt x="4549" y="599"/>
                    <a:pt x="3333" y="0"/>
                    <a:pt x="2044" y="0"/>
                  </a:cubicBezTo>
                  <a:close/>
                </a:path>
              </a:pathLst>
            </a:custGeom>
            <a:solidFill>
              <a:srgbClr val="5F7D95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2989" cy="577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435386" y="316152"/>
            <a:ext cx="10394099" cy="1140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3"/>
              </a:lnSpc>
            </a:pPr>
            <a:r>
              <a:rPr lang="en-US" sz="7503" spc="-44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 PROCESS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35386" y="1850891"/>
            <a:ext cx="3897981" cy="6423280"/>
            <a:chOff x="0" y="0"/>
            <a:chExt cx="1026629" cy="16917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6629" cy="1691728"/>
            </a:xfrm>
            <a:custGeom>
              <a:avLst/>
              <a:gdLst/>
              <a:ahLst/>
              <a:cxnLst/>
              <a:rect l="l" t="t" r="r" b="b"/>
              <a:pathLst>
                <a:path w="1026629" h="1691728">
                  <a:moveTo>
                    <a:pt x="59584" y="0"/>
                  </a:moveTo>
                  <a:lnTo>
                    <a:pt x="967045" y="0"/>
                  </a:lnTo>
                  <a:cubicBezTo>
                    <a:pt x="982847" y="0"/>
                    <a:pt x="998003" y="6278"/>
                    <a:pt x="1009177" y="17452"/>
                  </a:cubicBezTo>
                  <a:cubicBezTo>
                    <a:pt x="1020351" y="28626"/>
                    <a:pt x="1026629" y="43781"/>
                    <a:pt x="1026629" y="59584"/>
                  </a:cubicBezTo>
                  <a:lnTo>
                    <a:pt x="1026629" y="1632144"/>
                  </a:lnTo>
                  <a:cubicBezTo>
                    <a:pt x="1026629" y="1647947"/>
                    <a:pt x="1020351" y="1663102"/>
                    <a:pt x="1009177" y="1674276"/>
                  </a:cubicBezTo>
                  <a:cubicBezTo>
                    <a:pt x="998003" y="1685450"/>
                    <a:pt x="982847" y="1691728"/>
                    <a:pt x="967045" y="1691728"/>
                  </a:cubicBezTo>
                  <a:lnTo>
                    <a:pt x="59584" y="1691728"/>
                  </a:lnTo>
                  <a:cubicBezTo>
                    <a:pt x="43781" y="1691728"/>
                    <a:pt x="28626" y="1685450"/>
                    <a:pt x="17452" y="1674276"/>
                  </a:cubicBezTo>
                  <a:cubicBezTo>
                    <a:pt x="6278" y="1663102"/>
                    <a:pt x="0" y="1647947"/>
                    <a:pt x="0" y="1632144"/>
                  </a:cubicBezTo>
                  <a:lnTo>
                    <a:pt x="0" y="59584"/>
                  </a:lnTo>
                  <a:cubicBezTo>
                    <a:pt x="0" y="43781"/>
                    <a:pt x="6278" y="28626"/>
                    <a:pt x="17452" y="17452"/>
                  </a:cubicBezTo>
                  <a:cubicBezTo>
                    <a:pt x="28626" y="6278"/>
                    <a:pt x="43781" y="0"/>
                    <a:pt x="59584" y="0"/>
                  </a:cubicBezTo>
                  <a:close/>
                </a:path>
              </a:pathLst>
            </a:custGeom>
            <a:solidFill>
              <a:srgbClr val="869FB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26629" cy="1739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82405" y="1850891"/>
            <a:ext cx="4095591" cy="6423280"/>
            <a:chOff x="0" y="0"/>
            <a:chExt cx="1078674" cy="16917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8674" cy="1691728"/>
            </a:xfrm>
            <a:custGeom>
              <a:avLst/>
              <a:gdLst/>
              <a:ahLst/>
              <a:cxnLst/>
              <a:rect l="l" t="t" r="r" b="b"/>
              <a:pathLst>
                <a:path w="1078674" h="1691728">
                  <a:moveTo>
                    <a:pt x="56709" y="0"/>
                  </a:moveTo>
                  <a:lnTo>
                    <a:pt x="1021965" y="0"/>
                  </a:lnTo>
                  <a:cubicBezTo>
                    <a:pt x="1053285" y="0"/>
                    <a:pt x="1078674" y="25390"/>
                    <a:pt x="1078674" y="56709"/>
                  </a:cubicBezTo>
                  <a:lnTo>
                    <a:pt x="1078674" y="1635019"/>
                  </a:lnTo>
                  <a:cubicBezTo>
                    <a:pt x="1078674" y="1666338"/>
                    <a:pt x="1053285" y="1691728"/>
                    <a:pt x="1021965" y="1691728"/>
                  </a:cubicBezTo>
                  <a:lnTo>
                    <a:pt x="56709" y="1691728"/>
                  </a:lnTo>
                  <a:cubicBezTo>
                    <a:pt x="25390" y="1691728"/>
                    <a:pt x="0" y="1666338"/>
                    <a:pt x="0" y="1635019"/>
                  </a:cubicBezTo>
                  <a:lnTo>
                    <a:pt x="0" y="56709"/>
                  </a:lnTo>
                  <a:cubicBezTo>
                    <a:pt x="0" y="25390"/>
                    <a:pt x="25390" y="0"/>
                    <a:pt x="56709" y="0"/>
                  </a:cubicBezTo>
                  <a:close/>
                </a:path>
              </a:pathLst>
            </a:custGeom>
            <a:solidFill>
              <a:srgbClr val="869FB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78674" cy="1739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44696" y="1850891"/>
            <a:ext cx="4278981" cy="6423280"/>
            <a:chOff x="0" y="0"/>
            <a:chExt cx="1126974" cy="16917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6974" cy="1691728"/>
            </a:xfrm>
            <a:custGeom>
              <a:avLst/>
              <a:gdLst/>
              <a:ahLst/>
              <a:cxnLst/>
              <a:rect l="l" t="t" r="r" b="b"/>
              <a:pathLst>
                <a:path w="1126974" h="1691728">
                  <a:moveTo>
                    <a:pt x="54279" y="0"/>
                  </a:moveTo>
                  <a:lnTo>
                    <a:pt x="1072696" y="0"/>
                  </a:lnTo>
                  <a:cubicBezTo>
                    <a:pt x="1102673" y="0"/>
                    <a:pt x="1126974" y="24301"/>
                    <a:pt x="1126974" y="54279"/>
                  </a:cubicBezTo>
                  <a:lnTo>
                    <a:pt x="1126974" y="1637449"/>
                  </a:lnTo>
                  <a:cubicBezTo>
                    <a:pt x="1126974" y="1667427"/>
                    <a:pt x="1102673" y="1691728"/>
                    <a:pt x="1072696" y="1691728"/>
                  </a:cubicBezTo>
                  <a:lnTo>
                    <a:pt x="54279" y="1691728"/>
                  </a:lnTo>
                  <a:cubicBezTo>
                    <a:pt x="24301" y="1691728"/>
                    <a:pt x="0" y="1667427"/>
                    <a:pt x="0" y="1637449"/>
                  </a:cubicBezTo>
                  <a:lnTo>
                    <a:pt x="0" y="54279"/>
                  </a:lnTo>
                  <a:cubicBezTo>
                    <a:pt x="0" y="24301"/>
                    <a:pt x="24301" y="0"/>
                    <a:pt x="54279" y="0"/>
                  </a:cubicBezTo>
                  <a:close/>
                </a:path>
              </a:pathLst>
            </a:custGeom>
            <a:solidFill>
              <a:srgbClr val="869FB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26974" cy="1739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095127" y="2031413"/>
            <a:ext cx="3070145" cy="117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6"/>
              </a:lnSpc>
              <a:spcBef>
                <a:spcPct val="0"/>
              </a:spcBef>
            </a:pPr>
            <a:r>
              <a:rPr lang="en-US" sz="3535" b="1" spc="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Preparation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84954" y="2331112"/>
            <a:ext cx="4392303" cy="59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6"/>
              </a:lnSpc>
              <a:spcBef>
                <a:spcPct val="0"/>
              </a:spcBef>
            </a:pPr>
            <a:r>
              <a:rPr lang="en-US" sz="3535" b="1" spc="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Clustering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49215" y="2305723"/>
            <a:ext cx="4392303" cy="59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6"/>
              </a:lnSpc>
              <a:spcBef>
                <a:spcPct val="0"/>
              </a:spcBef>
            </a:pPr>
            <a:r>
              <a:rPr lang="en-US" sz="3535" b="1" spc="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Forecast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4187" y="2015211"/>
            <a:ext cx="3360375" cy="117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6"/>
              </a:lnSpc>
              <a:spcBef>
                <a:spcPct val="0"/>
              </a:spcBef>
            </a:pPr>
            <a:r>
              <a:rPr lang="en-US" sz="3535" b="1" spc="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56162" y="3341573"/>
            <a:ext cx="3598577" cy="4698025"/>
            <a:chOff x="0" y="0"/>
            <a:chExt cx="947773" cy="12373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47773" cy="1237340"/>
            </a:xfrm>
            <a:custGeom>
              <a:avLst/>
              <a:gdLst/>
              <a:ahLst/>
              <a:cxnLst/>
              <a:rect l="l" t="t" r="r" b="b"/>
              <a:pathLst>
                <a:path w="947773" h="1237340">
                  <a:moveTo>
                    <a:pt x="64542" y="0"/>
                  </a:moveTo>
                  <a:lnTo>
                    <a:pt x="883232" y="0"/>
                  </a:lnTo>
                  <a:cubicBezTo>
                    <a:pt x="900349" y="0"/>
                    <a:pt x="916766" y="6800"/>
                    <a:pt x="928869" y="18904"/>
                  </a:cubicBezTo>
                  <a:cubicBezTo>
                    <a:pt x="940973" y="31008"/>
                    <a:pt x="947773" y="47424"/>
                    <a:pt x="947773" y="64542"/>
                  </a:cubicBezTo>
                  <a:lnTo>
                    <a:pt x="947773" y="1172798"/>
                  </a:lnTo>
                  <a:cubicBezTo>
                    <a:pt x="947773" y="1189916"/>
                    <a:pt x="940973" y="1206332"/>
                    <a:pt x="928869" y="1218436"/>
                  </a:cubicBezTo>
                  <a:cubicBezTo>
                    <a:pt x="916766" y="1230540"/>
                    <a:pt x="900349" y="1237340"/>
                    <a:pt x="883232" y="1237340"/>
                  </a:cubicBezTo>
                  <a:lnTo>
                    <a:pt x="64542" y="1237340"/>
                  </a:lnTo>
                  <a:cubicBezTo>
                    <a:pt x="47424" y="1237340"/>
                    <a:pt x="31008" y="1230540"/>
                    <a:pt x="18904" y="1218436"/>
                  </a:cubicBezTo>
                  <a:cubicBezTo>
                    <a:pt x="6800" y="1206332"/>
                    <a:pt x="0" y="1189916"/>
                    <a:pt x="0" y="1172798"/>
                  </a:cubicBezTo>
                  <a:lnTo>
                    <a:pt x="0" y="64542"/>
                  </a:lnTo>
                  <a:cubicBezTo>
                    <a:pt x="0" y="47424"/>
                    <a:pt x="6800" y="31008"/>
                    <a:pt x="18904" y="18904"/>
                  </a:cubicBezTo>
                  <a:cubicBezTo>
                    <a:pt x="31008" y="6800"/>
                    <a:pt x="47424" y="0"/>
                    <a:pt x="64542" y="0"/>
                  </a:cubicBezTo>
                  <a:close/>
                </a:path>
              </a:pathLst>
            </a:custGeom>
            <a:solidFill>
              <a:srgbClr val="CFD9E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947773" cy="1284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51362" y="3341573"/>
            <a:ext cx="3757677" cy="4698025"/>
            <a:chOff x="0" y="0"/>
            <a:chExt cx="989676" cy="12373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89676" cy="1237340"/>
            </a:xfrm>
            <a:custGeom>
              <a:avLst/>
              <a:gdLst/>
              <a:ahLst/>
              <a:cxnLst/>
              <a:rect l="l" t="t" r="r" b="b"/>
              <a:pathLst>
                <a:path w="989676" h="1237340">
                  <a:moveTo>
                    <a:pt x="61809" y="0"/>
                  </a:moveTo>
                  <a:lnTo>
                    <a:pt x="927868" y="0"/>
                  </a:lnTo>
                  <a:cubicBezTo>
                    <a:pt x="962004" y="0"/>
                    <a:pt x="989676" y="27673"/>
                    <a:pt x="989676" y="61809"/>
                  </a:cubicBezTo>
                  <a:lnTo>
                    <a:pt x="989676" y="1175531"/>
                  </a:lnTo>
                  <a:cubicBezTo>
                    <a:pt x="989676" y="1191924"/>
                    <a:pt x="983164" y="1207645"/>
                    <a:pt x="971573" y="1219237"/>
                  </a:cubicBezTo>
                  <a:cubicBezTo>
                    <a:pt x="959982" y="1230828"/>
                    <a:pt x="944260" y="1237340"/>
                    <a:pt x="927868" y="1237340"/>
                  </a:cubicBezTo>
                  <a:lnTo>
                    <a:pt x="61809" y="1237340"/>
                  </a:lnTo>
                  <a:cubicBezTo>
                    <a:pt x="27673" y="1237340"/>
                    <a:pt x="0" y="1209667"/>
                    <a:pt x="0" y="1175531"/>
                  </a:cubicBezTo>
                  <a:lnTo>
                    <a:pt x="0" y="61809"/>
                  </a:lnTo>
                  <a:cubicBezTo>
                    <a:pt x="0" y="27673"/>
                    <a:pt x="27673" y="0"/>
                    <a:pt x="61809" y="0"/>
                  </a:cubicBezTo>
                  <a:close/>
                </a:path>
              </a:pathLst>
            </a:custGeom>
            <a:solidFill>
              <a:srgbClr val="CFD9E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989676" cy="1284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51757" y="3365073"/>
            <a:ext cx="3881914" cy="4698025"/>
            <a:chOff x="0" y="0"/>
            <a:chExt cx="1054277" cy="12373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54277" cy="1237340"/>
            </a:xfrm>
            <a:custGeom>
              <a:avLst/>
              <a:gdLst/>
              <a:ahLst/>
              <a:cxnLst/>
              <a:rect l="l" t="t" r="r" b="b"/>
              <a:pathLst>
                <a:path w="1054277" h="1237340">
                  <a:moveTo>
                    <a:pt x="58021" y="0"/>
                  </a:moveTo>
                  <a:lnTo>
                    <a:pt x="996256" y="0"/>
                  </a:lnTo>
                  <a:cubicBezTo>
                    <a:pt x="1028300" y="0"/>
                    <a:pt x="1054277" y="25977"/>
                    <a:pt x="1054277" y="58021"/>
                  </a:cubicBezTo>
                  <a:lnTo>
                    <a:pt x="1054277" y="1179319"/>
                  </a:lnTo>
                  <a:cubicBezTo>
                    <a:pt x="1054277" y="1194707"/>
                    <a:pt x="1048164" y="1209465"/>
                    <a:pt x="1037283" y="1220346"/>
                  </a:cubicBezTo>
                  <a:cubicBezTo>
                    <a:pt x="1026402" y="1231227"/>
                    <a:pt x="1011644" y="1237340"/>
                    <a:pt x="996256" y="1237340"/>
                  </a:cubicBezTo>
                  <a:lnTo>
                    <a:pt x="58021" y="1237340"/>
                  </a:lnTo>
                  <a:cubicBezTo>
                    <a:pt x="25977" y="1237340"/>
                    <a:pt x="0" y="1211363"/>
                    <a:pt x="0" y="1179319"/>
                  </a:cubicBezTo>
                  <a:lnTo>
                    <a:pt x="0" y="58021"/>
                  </a:lnTo>
                  <a:cubicBezTo>
                    <a:pt x="0" y="42633"/>
                    <a:pt x="6113" y="27875"/>
                    <a:pt x="16994" y="16994"/>
                  </a:cubicBezTo>
                  <a:cubicBezTo>
                    <a:pt x="27875" y="6113"/>
                    <a:pt x="42633" y="0"/>
                    <a:pt x="58021" y="0"/>
                  </a:cubicBezTo>
                  <a:close/>
                </a:path>
              </a:pathLst>
            </a:custGeom>
            <a:solidFill>
              <a:srgbClr val="CFD9E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1054277" cy="1284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674755" y="3365072"/>
            <a:ext cx="3941225" cy="4698025"/>
            <a:chOff x="0" y="0"/>
            <a:chExt cx="1037217" cy="12373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37217" cy="1237340"/>
            </a:xfrm>
            <a:custGeom>
              <a:avLst/>
              <a:gdLst/>
              <a:ahLst/>
              <a:cxnLst/>
              <a:rect l="l" t="t" r="r" b="b"/>
              <a:pathLst>
                <a:path w="1037217" h="1237340">
                  <a:moveTo>
                    <a:pt x="58976" y="0"/>
                  </a:moveTo>
                  <a:lnTo>
                    <a:pt x="978241" y="0"/>
                  </a:lnTo>
                  <a:cubicBezTo>
                    <a:pt x="1010813" y="0"/>
                    <a:pt x="1037217" y="26404"/>
                    <a:pt x="1037217" y="58976"/>
                  </a:cubicBezTo>
                  <a:lnTo>
                    <a:pt x="1037217" y="1178364"/>
                  </a:lnTo>
                  <a:cubicBezTo>
                    <a:pt x="1037217" y="1194006"/>
                    <a:pt x="1031003" y="1209006"/>
                    <a:pt x="1019943" y="1220066"/>
                  </a:cubicBezTo>
                  <a:cubicBezTo>
                    <a:pt x="1008883" y="1231127"/>
                    <a:pt x="993882" y="1237340"/>
                    <a:pt x="978241" y="1237340"/>
                  </a:cubicBezTo>
                  <a:lnTo>
                    <a:pt x="58976" y="1237340"/>
                  </a:lnTo>
                  <a:cubicBezTo>
                    <a:pt x="26404" y="1237340"/>
                    <a:pt x="0" y="1210936"/>
                    <a:pt x="0" y="1178364"/>
                  </a:cubicBezTo>
                  <a:lnTo>
                    <a:pt x="0" y="58976"/>
                  </a:lnTo>
                  <a:cubicBezTo>
                    <a:pt x="0" y="26404"/>
                    <a:pt x="26404" y="0"/>
                    <a:pt x="58976" y="0"/>
                  </a:cubicBezTo>
                  <a:close/>
                </a:path>
              </a:pathLst>
            </a:custGeom>
            <a:solidFill>
              <a:srgbClr val="CFD9E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037217" cy="1284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6115524" y="-765907"/>
            <a:ext cx="6947590" cy="2616798"/>
          </a:xfrm>
          <a:custGeom>
            <a:avLst/>
            <a:gdLst/>
            <a:ahLst/>
            <a:cxnLst/>
            <a:rect l="l" t="t" r="r" b="b"/>
            <a:pathLst>
              <a:path w="6947590" h="2616798">
                <a:moveTo>
                  <a:pt x="0" y="0"/>
                </a:moveTo>
                <a:lnTo>
                  <a:pt x="6947590" y="0"/>
                </a:lnTo>
                <a:lnTo>
                  <a:pt x="6947590" y="2616798"/>
                </a:lnTo>
                <a:lnTo>
                  <a:pt x="0" y="2616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435386" y="8979021"/>
            <a:ext cx="16933432" cy="407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  <a:spcBef>
                <a:spcPct val="0"/>
              </a:spcBef>
            </a:pPr>
            <a:endParaRPr lang="en-US" sz="2500" b="1" spc="50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29157" y="3405980"/>
            <a:ext cx="3450550" cy="73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0"/>
              </a:lnSpc>
              <a:spcBef>
                <a:spcPct val="0"/>
              </a:spcBef>
            </a:pPr>
            <a:r>
              <a:rPr lang="en-US" sz="2400" b="1" spc="44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World Bank Sources:</a:t>
            </a:r>
            <a:r>
              <a:rPr lang="en-US" sz="2400" spc="44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2860"/>
              </a:lnSpc>
              <a:spcBef>
                <a:spcPct val="0"/>
              </a:spcBef>
            </a:pPr>
            <a:endParaRPr lang="en-US" sz="2400" spc="44" dirty="0">
              <a:solidFill>
                <a:srgbClr val="2135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68075" y="7262301"/>
            <a:ext cx="4280980" cy="781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300" b="1" spc="48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 164 countries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300" b="1" spc="48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 2005–2023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54009" y="3292972"/>
            <a:ext cx="3952384" cy="3559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09" lvl="1" indent="-313054" algn="l">
              <a:lnSpc>
                <a:spcPts val="7249"/>
              </a:lnSpc>
              <a:buFont typeface="Arial"/>
              <a:buChar char="•"/>
            </a:pPr>
            <a:r>
              <a:rPr lang="en-US" sz="2899" spc="57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ETL</a:t>
            </a:r>
          </a:p>
          <a:p>
            <a:pPr marL="626109" lvl="1" indent="-313054" algn="l">
              <a:lnSpc>
                <a:spcPts val="7249"/>
              </a:lnSpc>
              <a:buFont typeface="Arial"/>
              <a:buChar char="•"/>
            </a:pPr>
            <a:r>
              <a:rPr lang="en-US" sz="2899" spc="57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Transformations</a:t>
            </a:r>
          </a:p>
          <a:p>
            <a:pPr marL="626109" lvl="1" indent="-313054" algn="l">
              <a:lnSpc>
                <a:spcPts val="7249"/>
              </a:lnSpc>
              <a:buFont typeface="Arial"/>
              <a:buChar char="•"/>
            </a:pPr>
            <a:r>
              <a:rPr lang="en-US" sz="2899" spc="57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Cleaning</a:t>
            </a:r>
          </a:p>
          <a:p>
            <a:pPr marL="626109" lvl="1" indent="-313054" algn="l">
              <a:lnSpc>
                <a:spcPts val="7249"/>
              </a:lnSpc>
              <a:buFont typeface="Arial"/>
              <a:buChar char="•"/>
            </a:pPr>
            <a:r>
              <a:rPr lang="en-US" sz="2899" spc="57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Filtering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57855" y="3653183"/>
            <a:ext cx="3707166" cy="2867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8" lvl="1" indent="-323849" algn="l">
              <a:buFont typeface="Arial"/>
              <a:buChar char="•"/>
            </a:pPr>
            <a:r>
              <a:rPr lang="en-US" sz="2999" spc="59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Unsupervised Machine Learning</a:t>
            </a:r>
          </a:p>
          <a:p>
            <a:pPr algn="l">
              <a:lnSpc>
                <a:spcPts val="3899"/>
              </a:lnSpc>
            </a:pPr>
            <a:endParaRPr lang="en-US" sz="2999" spc="59" dirty="0">
              <a:solidFill>
                <a:srgbClr val="2135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698" lvl="1" indent="-323849" algn="l">
              <a:lnSpc>
                <a:spcPts val="3899"/>
              </a:lnSpc>
              <a:buFont typeface="Arial"/>
              <a:buChar char="•"/>
            </a:pPr>
            <a:r>
              <a:rPr lang="en-US" sz="2999" spc="59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K-means Clustering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525013" y="3626347"/>
            <a:ext cx="3878442" cy="3705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09" lvl="1" indent="-313054" algn="l">
              <a:buFont typeface="Arial"/>
              <a:buChar char="•"/>
            </a:pPr>
            <a:r>
              <a:rPr lang="en-US" sz="2899" spc="57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Supervised Machine Learning</a:t>
            </a:r>
          </a:p>
          <a:p>
            <a:pPr marL="626109" lvl="1" indent="-313054" algn="l">
              <a:lnSpc>
                <a:spcPts val="7249"/>
              </a:lnSpc>
              <a:buFont typeface="Arial"/>
              <a:buChar char="•"/>
            </a:pPr>
            <a:r>
              <a:rPr lang="en-US" sz="2899" spc="57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Linear regression </a:t>
            </a:r>
          </a:p>
          <a:p>
            <a:pPr marL="626109" lvl="1" indent="-313054" algn="l">
              <a:lnSpc>
                <a:spcPts val="3769"/>
              </a:lnSpc>
              <a:buFont typeface="Arial"/>
              <a:buChar char="•"/>
            </a:pPr>
            <a:r>
              <a:rPr lang="en-US" sz="2899" spc="57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Projected GDP for key countries to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DF405-A469-CC1A-B2A0-94ABE9CE3D59}"/>
              </a:ext>
            </a:extLst>
          </p:cNvPr>
          <p:cNvSpPr txBox="1"/>
          <p:nvPr/>
        </p:nvSpPr>
        <p:spPr>
          <a:xfrm>
            <a:off x="560200" y="3615639"/>
            <a:ext cx="2356870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4983" lvl="1" indent="-237491" algn="just">
              <a:lnSpc>
                <a:spcPct val="150000"/>
              </a:lnSpc>
              <a:buFont typeface="Arial"/>
              <a:buChar char="•"/>
            </a:pPr>
            <a:r>
              <a:rPr lang="en-US" sz="2000" spc="44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World GDP</a:t>
            </a:r>
          </a:p>
          <a:p>
            <a:pPr marL="474983" lvl="1" indent="-237491" algn="just">
              <a:lnSpc>
                <a:spcPct val="150000"/>
              </a:lnSpc>
              <a:buFont typeface="Arial"/>
              <a:buChar char="•"/>
            </a:pPr>
            <a:r>
              <a:rPr lang="en-US" sz="2000" spc="44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Population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90E861-BF8D-E5B7-8D30-9225349B0D88}"/>
              </a:ext>
            </a:extLst>
          </p:cNvPr>
          <p:cNvSpPr txBox="1"/>
          <p:nvPr/>
        </p:nvSpPr>
        <p:spPr>
          <a:xfrm>
            <a:off x="556162" y="4893437"/>
            <a:ext cx="5216259" cy="189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4983" lvl="1" indent="-237491" algn="just">
              <a:lnSpc>
                <a:spcPct val="150000"/>
              </a:lnSpc>
              <a:buFont typeface="Arial"/>
              <a:buChar char="•"/>
            </a:pPr>
            <a:r>
              <a:rPr lang="en-US" sz="2000" spc="44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Global Exports Data</a:t>
            </a:r>
          </a:p>
          <a:p>
            <a:pPr marL="474983" lvl="1" indent="-237491" algn="just">
              <a:lnSpc>
                <a:spcPct val="150000"/>
              </a:lnSpc>
              <a:buFont typeface="Arial"/>
              <a:buChar char="•"/>
            </a:pPr>
            <a:r>
              <a:rPr lang="en-US" sz="2000" spc="44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Global Imports Data</a:t>
            </a:r>
          </a:p>
          <a:p>
            <a:pPr marL="474983" lvl="1" indent="-237491" algn="just">
              <a:lnSpc>
                <a:spcPct val="150000"/>
              </a:lnSpc>
              <a:buFont typeface="Arial"/>
              <a:buChar char="•"/>
            </a:pPr>
            <a:r>
              <a:rPr lang="en-US" sz="2000" spc="44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Avg tariff rates</a:t>
            </a:r>
          </a:p>
          <a:p>
            <a:pPr marL="474983" lvl="1" indent="-237491" algn="just">
              <a:lnSpc>
                <a:spcPct val="150000"/>
              </a:lnSpc>
              <a:buFont typeface="Arial"/>
              <a:buChar char="•"/>
            </a:pPr>
            <a:r>
              <a:rPr lang="en-US" sz="2000" spc="44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FDI inflows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0E3868-0908-9A3D-3842-9F8DD732D2B2}"/>
              </a:ext>
            </a:extLst>
          </p:cNvPr>
          <p:cNvSpPr txBox="1"/>
          <p:nvPr/>
        </p:nvSpPr>
        <p:spPr>
          <a:xfrm>
            <a:off x="641659" y="4539809"/>
            <a:ext cx="3594917" cy="45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860"/>
              </a:lnSpc>
              <a:spcBef>
                <a:spcPct val="0"/>
              </a:spcBef>
            </a:pPr>
            <a:r>
              <a:rPr lang="en-US" sz="2400" b="1" spc="44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WTO Stats Sources: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C00D2F-673F-7A4C-327F-C9CB84EA5363}"/>
              </a:ext>
            </a:extLst>
          </p:cNvPr>
          <p:cNvSpPr txBox="1"/>
          <p:nvPr/>
        </p:nvSpPr>
        <p:spPr>
          <a:xfrm>
            <a:off x="437569" y="6723171"/>
            <a:ext cx="3811898" cy="476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1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48" normalizeH="0" baseline="0" noProof="0" dirty="0">
                <a:ln>
                  <a:noFill/>
                </a:ln>
                <a:solidFill>
                  <a:srgbClr val="213559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18 Product Categories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44" grpId="0"/>
      <p:bldP spid="45" grpId="0"/>
      <p:bldP spid="46" grpId="0"/>
      <p:bldP spid="47" grpId="0"/>
      <p:bldP spid="48" grpId="0"/>
      <p:bldP spid="49" grpId="0"/>
      <p:bldP spid="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52" r="-8816" b="-47661"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16397" cy="10287000"/>
            <a:chOff x="0" y="0"/>
            <a:chExt cx="957545" cy="32655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7545" cy="3265574"/>
            </a:xfrm>
            <a:custGeom>
              <a:avLst/>
              <a:gdLst/>
              <a:ahLst/>
              <a:cxnLst/>
              <a:rect l="l" t="t" r="r" b="b"/>
              <a:pathLst>
                <a:path w="957545" h="3265574">
                  <a:moveTo>
                    <a:pt x="0" y="0"/>
                  </a:moveTo>
                  <a:lnTo>
                    <a:pt x="957545" y="0"/>
                  </a:lnTo>
                  <a:lnTo>
                    <a:pt x="957545" y="3265574"/>
                  </a:lnTo>
                  <a:lnTo>
                    <a:pt x="0" y="3265574"/>
                  </a:lnTo>
                  <a:close/>
                </a:path>
              </a:pathLst>
            </a:custGeom>
            <a:solidFill>
              <a:srgbClr val="213559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57545" cy="3313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3469" y="474366"/>
            <a:ext cx="3154163" cy="1116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3600" spc="-23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GLOBAL PICTURE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48413" y="331470"/>
            <a:ext cx="13186988" cy="1361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NZ" altLang="zh-CN" sz="4799" b="1" spc="-283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 1: </a:t>
            </a:r>
            <a:r>
              <a:rPr lang="en-US" sz="4400" spc="-283" dirty="0">
                <a:solidFill>
                  <a:srgbClr val="213559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WHAT IS HAPPENING IN GLOBAL TRADE, AND HOW IS IT LINKED TO ECONOMIC PROSPERITY?</a:t>
            </a:r>
            <a:endParaRPr lang="en-US" sz="4799" spc="-283" dirty="0">
              <a:solidFill>
                <a:srgbClr val="213559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272960" y="2443639"/>
            <a:ext cx="11530185" cy="6382301"/>
          </a:xfrm>
          <a:custGeom>
            <a:avLst/>
            <a:gdLst/>
            <a:ahLst/>
            <a:cxnLst/>
            <a:rect l="l" t="t" r="r" b="b"/>
            <a:pathLst>
              <a:path w="11530185" h="6382301">
                <a:moveTo>
                  <a:pt x="0" y="0"/>
                </a:moveTo>
                <a:lnTo>
                  <a:pt x="11530185" y="0"/>
                </a:lnTo>
                <a:lnTo>
                  <a:pt x="11530185" y="6382300"/>
                </a:lnTo>
                <a:lnTo>
                  <a:pt x="0" y="6382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2153941"/>
            <a:ext cx="16808006" cy="2977536"/>
            <a:chOff x="0" y="0"/>
            <a:chExt cx="5335646" cy="9452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35646" cy="945209"/>
            </a:xfrm>
            <a:custGeom>
              <a:avLst/>
              <a:gdLst/>
              <a:ahLst/>
              <a:cxnLst/>
              <a:rect l="l" t="t" r="r" b="b"/>
              <a:pathLst>
                <a:path w="5335646" h="945209">
                  <a:moveTo>
                    <a:pt x="0" y="0"/>
                  </a:moveTo>
                  <a:lnTo>
                    <a:pt x="5335646" y="0"/>
                  </a:lnTo>
                  <a:lnTo>
                    <a:pt x="5335646" y="945209"/>
                  </a:lnTo>
                  <a:lnTo>
                    <a:pt x="0" y="945209"/>
                  </a:lnTo>
                  <a:close/>
                </a:path>
              </a:pathLst>
            </a:custGeom>
            <a:solidFill>
              <a:srgbClr val="2A4A82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335646" cy="992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4952015"/>
            <a:ext cx="16808006" cy="2838706"/>
            <a:chOff x="0" y="0"/>
            <a:chExt cx="5335646" cy="901138"/>
          </a:xfrm>
        </p:grpSpPr>
        <p:sp>
          <p:nvSpPr>
            <p:cNvPr id="13" name="Freeform 1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5335646" cy="901138"/>
            </a:xfrm>
            <a:custGeom>
              <a:avLst/>
              <a:gdLst/>
              <a:ahLst/>
              <a:cxnLst/>
              <a:rect l="l" t="t" r="r" b="b"/>
              <a:pathLst>
                <a:path w="5335646" h="901138">
                  <a:moveTo>
                    <a:pt x="0" y="0"/>
                  </a:moveTo>
                  <a:lnTo>
                    <a:pt x="5335646" y="0"/>
                  </a:lnTo>
                  <a:lnTo>
                    <a:pt x="5335646" y="901138"/>
                  </a:lnTo>
                  <a:lnTo>
                    <a:pt x="0" y="901138"/>
                  </a:lnTo>
                  <a:close/>
                </a:path>
              </a:pathLst>
            </a:custGeom>
            <a:solidFill>
              <a:srgbClr val="4569A8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335646" cy="948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7715543"/>
            <a:ext cx="16808006" cy="2817947"/>
            <a:chOff x="0" y="0"/>
            <a:chExt cx="5335646" cy="8945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35646" cy="894548"/>
            </a:xfrm>
            <a:custGeom>
              <a:avLst/>
              <a:gdLst/>
              <a:ahLst/>
              <a:cxnLst/>
              <a:rect l="l" t="t" r="r" b="b"/>
              <a:pathLst>
                <a:path w="5335646" h="894548">
                  <a:moveTo>
                    <a:pt x="0" y="0"/>
                  </a:moveTo>
                  <a:lnTo>
                    <a:pt x="5335646" y="0"/>
                  </a:lnTo>
                  <a:lnTo>
                    <a:pt x="5335646" y="894548"/>
                  </a:lnTo>
                  <a:lnTo>
                    <a:pt x="0" y="894548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5335646" cy="951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43469" y="3495828"/>
            <a:ext cx="14955573" cy="93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799" spc="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Global trade has expanded steadily since 2005, with only temporary setbacks during major crises.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3469" y="6265203"/>
            <a:ext cx="15514322" cy="93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799" spc="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Global exports and imports are closely balanced, with a small trade deficit of about 0.5 Trillion in 2023.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469" y="2592204"/>
            <a:ext cx="3895483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spc="-20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trade in 2023 :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82421" y="2324588"/>
            <a:ext cx="6984088" cy="96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9"/>
              </a:lnSpc>
              <a:spcBef>
                <a:spcPct val="0"/>
              </a:spcBef>
            </a:pPr>
            <a:r>
              <a:rPr lang="en-US" sz="5999" b="1" i="1" spc="119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47.16 Trillion USD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4257" y="5461677"/>
            <a:ext cx="5424281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spc="-2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Trade Balance in 2023 :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82421" y="5173045"/>
            <a:ext cx="8546562" cy="965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99"/>
              </a:lnSpc>
              <a:spcBef>
                <a:spcPct val="0"/>
              </a:spcBef>
            </a:pPr>
            <a:r>
              <a:rPr lang="en-US" sz="5999" b="1" i="1" spc="119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-463.17 Billion USD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3469" y="8780145"/>
            <a:ext cx="15962631" cy="88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  <a:spcBef>
                <a:spcPct val="0"/>
              </a:spcBef>
            </a:pPr>
            <a:r>
              <a:rPr lang="en-US" altLang="zh-CN" sz="2700" spc="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Global</a:t>
            </a:r>
            <a:r>
              <a:rPr lang="en-NZ" altLang="zh-CN" sz="2700" spc="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spc="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trade has recovered from recent shocks but is now supporting a slower, more moderate phase of economic prosperity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3469" y="8038371"/>
            <a:ext cx="6693400" cy="500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altLang="zh-CN" sz="3500" spc="-20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World GDP Growth Rate </a:t>
            </a:r>
            <a:r>
              <a:rPr lang="en-US" sz="3500" spc="-20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2023 : 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44961" y="7779155"/>
            <a:ext cx="2916287" cy="96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sz="6000" b="1" i="1" spc="12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3.08%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1"/>
          <p:cNvSpPr/>
          <p:nvPr/>
        </p:nvSpPr>
        <p:spPr>
          <a:xfrm>
            <a:off x="12184915" y="2769082"/>
            <a:ext cx="8852164" cy="8165617"/>
          </a:xfrm>
          <a:custGeom>
            <a:avLst/>
            <a:gdLst/>
            <a:ahLst/>
            <a:cxnLst/>
            <a:rect l="l" t="t" r="r" b="b"/>
            <a:pathLst>
              <a:path w="11823554" h="10784273">
                <a:moveTo>
                  <a:pt x="0" y="0"/>
                </a:moveTo>
                <a:lnTo>
                  <a:pt x="11823553" y="0"/>
                </a:lnTo>
                <a:lnTo>
                  <a:pt x="11823553" y="10784273"/>
                </a:lnTo>
                <a:lnTo>
                  <a:pt x="0" y="10784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Z"/>
          </a:p>
        </p:txBody>
      </p:sp>
      <p:grpSp>
        <p:nvGrpSpPr>
          <p:cNvPr id="2" name="Group 2"/>
          <p:cNvGrpSpPr/>
          <p:nvPr/>
        </p:nvGrpSpPr>
        <p:grpSpPr>
          <a:xfrm rot="5400000">
            <a:off x="5298970" y="-513702"/>
            <a:ext cx="1146226" cy="10522550"/>
            <a:chOff x="0" y="0"/>
            <a:chExt cx="1528301" cy="14030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8254" cy="14028905"/>
            </a:xfrm>
            <a:custGeom>
              <a:avLst/>
              <a:gdLst/>
              <a:ahLst/>
              <a:cxnLst/>
              <a:rect l="l" t="t" r="r" b="b"/>
              <a:pathLst>
                <a:path w="1528254" h="14028905">
                  <a:moveTo>
                    <a:pt x="763500" y="0"/>
                  </a:moveTo>
                  <a:cubicBezTo>
                    <a:pt x="754717" y="0"/>
                    <a:pt x="745935" y="24809"/>
                    <a:pt x="739842" y="74427"/>
                  </a:cubicBezTo>
                  <a:lnTo>
                    <a:pt x="510613" y="1986871"/>
                  </a:lnTo>
                  <a:lnTo>
                    <a:pt x="110582" y="1986871"/>
                  </a:lnTo>
                  <a:cubicBezTo>
                    <a:pt x="49466" y="1986871"/>
                    <a:pt x="0" y="2283499"/>
                    <a:pt x="0" y="2651319"/>
                  </a:cubicBezTo>
                  <a:lnTo>
                    <a:pt x="0" y="13356907"/>
                  </a:lnTo>
                  <a:cubicBezTo>
                    <a:pt x="0" y="13724727"/>
                    <a:pt x="49466" y="14028905"/>
                    <a:pt x="110582" y="14028905"/>
                  </a:cubicBezTo>
                  <a:lnTo>
                    <a:pt x="1417672" y="14028905"/>
                  </a:lnTo>
                  <a:cubicBezTo>
                    <a:pt x="1478788" y="14028905"/>
                    <a:pt x="1528254" y="13724727"/>
                    <a:pt x="1528254" y="13356907"/>
                  </a:cubicBezTo>
                  <a:lnTo>
                    <a:pt x="1528254" y="2651319"/>
                  </a:lnTo>
                  <a:cubicBezTo>
                    <a:pt x="1528254" y="2287814"/>
                    <a:pt x="1480042" y="1985792"/>
                    <a:pt x="1419822" y="1985792"/>
                  </a:cubicBezTo>
                  <a:cubicBezTo>
                    <a:pt x="1419106" y="1985792"/>
                    <a:pt x="1418389" y="1985792"/>
                    <a:pt x="1417672" y="1986871"/>
                  </a:cubicBezTo>
                  <a:lnTo>
                    <a:pt x="1016386" y="1986871"/>
                  </a:lnTo>
                  <a:lnTo>
                    <a:pt x="786978" y="74427"/>
                  </a:lnTo>
                  <a:cubicBezTo>
                    <a:pt x="781243" y="24809"/>
                    <a:pt x="772282" y="0"/>
                    <a:pt x="763500" y="0"/>
                  </a:cubicBezTo>
                  <a:close/>
                </a:path>
              </a:pathLst>
            </a:custGeom>
            <a:solidFill>
              <a:srgbClr val="EDEBE1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5073307" y="1467786"/>
            <a:ext cx="1218534" cy="10143533"/>
            <a:chOff x="0" y="0"/>
            <a:chExt cx="1624712" cy="134728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4661" cy="13471762"/>
            </a:xfrm>
            <a:custGeom>
              <a:avLst/>
              <a:gdLst/>
              <a:ahLst/>
              <a:cxnLst/>
              <a:rect l="l" t="t" r="r" b="b"/>
              <a:pathLst>
                <a:path w="1624661" h="13471762">
                  <a:moveTo>
                    <a:pt x="811664" y="0"/>
                  </a:moveTo>
                  <a:cubicBezTo>
                    <a:pt x="802328" y="0"/>
                    <a:pt x="792992" y="23824"/>
                    <a:pt x="786514" y="71471"/>
                  </a:cubicBezTo>
                  <a:lnTo>
                    <a:pt x="542824" y="1907965"/>
                  </a:lnTo>
                  <a:lnTo>
                    <a:pt x="117558" y="1907965"/>
                  </a:lnTo>
                  <a:cubicBezTo>
                    <a:pt x="52587" y="1907965"/>
                    <a:pt x="0" y="2192813"/>
                    <a:pt x="0" y="2546024"/>
                  </a:cubicBezTo>
                  <a:lnTo>
                    <a:pt x="0" y="12826452"/>
                  </a:lnTo>
                  <a:cubicBezTo>
                    <a:pt x="0" y="13179664"/>
                    <a:pt x="52587" y="13471762"/>
                    <a:pt x="117558" y="13471762"/>
                  </a:cubicBezTo>
                  <a:lnTo>
                    <a:pt x="1507103" y="13471762"/>
                  </a:lnTo>
                  <a:cubicBezTo>
                    <a:pt x="1572075" y="13471762"/>
                    <a:pt x="1624661" y="13179664"/>
                    <a:pt x="1624661" y="12826452"/>
                  </a:cubicBezTo>
                  <a:lnTo>
                    <a:pt x="1624661" y="2546024"/>
                  </a:lnTo>
                  <a:cubicBezTo>
                    <a:pt x="1624661" y="2196956"/>
                    <a:pt x="1573408" y="1906929"/>
                    <a:pt x="1509390" y="1906929"/>
                  </a:cubicBezTo>
                  <a:cubicBezTo>
                    <a:pt x="1508628" y="1906929"/>
                    <a:pt x="1507866" y="1906929"/>
                    <a:pt x="1507103" y="1907965"/>
                  </a:cubicBezTo>
                  <a:lnTo>
                    <a:pt x="1080504" y="1907965"/>
                  </a:lnTo>
                  <a:lnTo>
                    <a:pt x="836623" y="71471"/>
                  </a:lnTo>
                  <a:cubicBezTo>
                    <a:pt x="830526" y="23824"/>
                    <a:pt x="821000" y="0"/>
                    <a:pt x="811664" y="0"/>
                  </a:cubicBezTo>
                  <a:close/>
                </a:path>
              </a:pathLst>
            </a:custGeom>
            <a:solidFill>
              <a:srgbClr val="EDEBE1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-6364628" y="8044170"/>
            <a:ext cx="11237547" cy="4232603"/>
          </a:xfrm>
          <a:custGeom>
            <a:avLst/>
            <a:gdLst/>
            <a:ahLst/>
            <a:cxnLst/>
            <a:rect l="l" t="t" r="r" b="b"/>
            <a:pathLst>
              <a:path w="11237547" h="4232603">
                <a:moveTo>
                  <a:pt x="0" y="0"/>
                </a:moveTo>
                <a:lnTo>
                  <a:pt x="11237547" y="0"/>
                </a:lnTo>
                <a:lnTo>
                  <a:pt x="11237547" y="4232604"/>
                </a:lnTo>
                <a:lnTo>
                  <a:pt x="0" y="423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5579870" y="2789358"/>
            <a:ext cx="1182380" cy="11120506"/>
            <a:chOff x="0" y="0"/>
            <a:chExt cx="1576507" cy="142895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6457" cy="14288357"/>
            </a:xfrm>
            <a:custGeom>
              <a:avLst/>
              <a:gdLst/>
              <a:ahLst/>
              <a:cxnLst/>
              <a:rect l="l" t="t" r="r" b="b"/>
              <a:pathLst>
                <a:path w="1576457" h="14288357">
                  <a:moveTo>
                    <a:pt x="787582" y="0"/>
                  </a:moveTo>
                  <a:cubicBezTo>
                    <a:pt x="778523" y="0"/>
                    <a:pt x="769464" y="25268"/>
                    <a:pt x="763178" y="75803"/>
                  </a:cubicBezTo>
                  <a:lnTo>
                    <a:pt x="526718" y="2023616"/>
                  </a:lnTo>
                  <a:lnTo>
                    <a:pt x="114070" y="2023616"/>
                  </a:lnTo>
                  <a:cubicBezTo>
                    <a:pt x="51026" y="2023616"/>
                    <a:pt x="0" y="2325731"/>
                    <a:pt x="0" y="2700352"/>
                  </a:cubicBezTo>
                  <a:lnTo>
                    <a:pt x="0" y="13603932"/>
                  </a:lnTo>
                  <a:cubicBezTo>
                    <a:pt x="0" y="13978553"/>
                    <a:pt x="51026" y="14288357"/>
                    <a:pt x="114070" y="14288357"/>
                  </a:cubicBezTo>
                  <a:lnTo>
                    <a:pt x="1462388" y="14288357"/>
                  </a:lnTo>
                  <a:cubicBezTo>
                    <a:pt x="1525431" y="14288357"/>
                    <a:pt x="1576457" y="13978553"/>
                    <a:pt x="1576457" y="13603932"/>
                  </a:cubicBezTo>
                  <a:lnTo>
                    <a:pt x="1576457" y="2700352"/>
                  </a:lnTo>
                  <a:cubicBezTo>
                    <a:pt x="1576457" y="2330125"/>
                    <a:pt x="1526725" y="2022518"/>
                    <a:pt x="1464606" y="2022518"/>
                  </a:cubicBezTo>
                  <a:cubicBezTo>
                    <a:pt x="1463867" y="2022518"/>
                    <a:pt x="1463127" y="2022518"/>
                    <a:pt x="1462388" y="2023616"/>
                  </a:cubicBezTo>
                  <a:lnTo>
                    <a:pt x="1048445" y="2023616"/>
                  </a:lnTo>
                  <a:lnTo>
                    <a:pt x="811801" y="75803"/>
                  </a:lnTo>
                  <a:cubicBezTo>
                    <a:pt x="805885" y="25268"/>
                    <a:pt x="796641" y="0"/>
                    <a:pt x="787582" y="0"/>
                  </a:cubicBezTo>
                  <a:close/>
                </a:path>
              </a:pathLst>
            </a:custGeom>
            <a:solidFill>
              <a:srgbClr val="EDEBE1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6505485" y="-3517595"/>
            <a:ext cx="1146226" cy="12935581"/>
            <a:chOff x="0" y="0"/>
            <a:chExt cx="1528301" cy="172474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8254" cy="17246014"/>
            </a:xfrm>
            <a:custGeom>
              <a:avLst/>
              <a:gdLst/>
              <a:ahLst/>
              <a:cxnLst/>
              <a:rect l="l" t="t" r="r" b="b"/>
              <a:pathLst>
                <a:path w="1528254" h="17246014">
                  <a:moveTo>
                    <a:pt x="763500" y="0"/>
                  </a:moveTo>
                  <a:cubicBezTo>
                    <a:pt x="754717" y="0"/>
                    <a:pt x="745935" y="30498"/>
                    <a:pt x="739842" y="91494"/>
                  </a:cubicBezTo>
                  <a:lnTo>
                    <a:pt x="510613" y="2442500"/>
                  </a:lnTo>
                  <a:lnTo>
                    <a:pt x="110582" y="2442500"/>
                  </a:lnTo>
                  <a:cubicBezTo>
                    <a:pt x="49466" y="2442500"/>
                    <a:pt x="0" y="2807152"/>
                    <a:pt x="0" y="3259319"/>
                  </a:cubicBezTo>
                  <a:lnTo>
                    <a:pt x="0" y="16419914"/>
                  </a:lnTo>
                  <a:cubicBezTo>
                    <a:pt x="0" y="16872080"/>
                    <a:pt x="49466" y="17246014"/>
                    <a:pt x="110582" y="17246014"/>
                  </a:cubicBezTo>
                  <a:lnTo>
                    <a:pt x="1417672" y="17246014"/>
                  </a:lnTo>
                  <a:cubicBezTo>
                    <a:pt x="1478788" y="17246014"/>
                    <a:pt x="1528254" y="16872080"/>
                    <a:pt x="1528254" y="16419914"/>
                  </a:cubicBezTo>
                  <a:lnTo>
                    <a:pt x="1528254" y="3259319"/>
                  </a:lnTo>
                  <a:cubicBezTo>
                    <a:pt x="1528254" y="2812456"/>
                    <a:pt x="1480042" y="2441174"/>
                    <a:pt x="1419822" y="2441174"/>
                  </a:cubicBezTo>
                  <a:cubicBezTo>
                    <a:pt x="1419106" y="2441174"/>
                    <a:pt x="1418389" y="2441174"/>
                    <a:pt x="1417672" y="2442500"/>
                  </a:cubicBezTo>
                  <a:lnTo>
                    <a:pt x="1016386" y="2442500"/>
                  </a:lnTo>
                  <a:lnTo>
                    <a:pt x="786978" y="91494"/>
                  </a:lnTo>
                  <a:cubicBezTo>
                    <a:pt x="781243" y="30498"/>
                    <a:pt x="772282" y="0"/>
                    <a:pt x="763500" y="0"/>
                  </a:cubicBezTo>
                  <a:close/>
                </a:path>
              </a:pathLst>
            </a:custGeom>
            <a:solidFill>
              <a:srgbClr val="EDEBE1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38200" y="6225952"/>
            <a:ext cx="7648906" cy="64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  <a:spcBef>
                <a:spcPct val="0"/>
              </a:spcBef>
            </a:pPr>
            <a:r>
              <a:rPr lang="en-US" sz="3699" b="1" spc="73" dirty="0">
                <a:solidFill>
                  <a:srgbClr val="1B2A47"/>
                </a:solidFill>
                <a:latin typeface="Poppins Bold"/>
                <a:ea typeface="Poppins Bold"/>
                <a:cs typeface="Poppins Bold"/>
                <a:sym typeface="Poppins Bold"/>
              </a:rPr>
              <a:t>Trade and GDP move together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44448" y="4485106"/>
            <a:ext cx="10143533" cy="64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  <a:spcBef>
                <a:spcPct val="0"/>
              </a:spcBef>
            </a:pPr>
            <a:r>
              <a:rPr lang="en-US" sz="3699" b="1" spc="73" dirty="0">
                <a:solidFill>
                  <a:srgbClr val="1B2A47"/>
                </a:solidFill>
                <a:latin typeface="Poppins Bold"/>
                <a:ea typeface="Poppins Bold"/>
                <a:cs typeface="Poppins Bold"/>
                <a:sym typeface="Poppins Bold"/>
              </a:rPr>
              <a:t>More open economies are richer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7060" y="2649999"/>
            <a:ext cx="11287966" cy="64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  <a:spcBef>
                <a:spcPct val="0"/>
              </a:spcBef>
            </a:pPr>
            <a:r>
              <a:rPr lang="en-US" sz="3699" b="1" spc="73" dirty="0">
                <a:solidFill>
                  <a:srgbClr val="1B2A47"/>
                </a:solidFill>
                <a:latin typeface="Poppins Bold"/>
                <a:ea typeface="Poppins Bold"/>
                <a:cs typeface="Poppins Bold"/>
                <a:sym typeface="Poppins Bold"/>
              </a:rPr>
              <a:t>Balanced trade structures support stability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0133" y="8025424"/>
            <a:ext cx="9131220" cy="64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  <a:spcBef>
                <a:spcPct val="0"/>
              </a:spcBef>
            </a:pPr>
            <a:r>
              <a:rPr lang="en-US" sz="3699" b="1" spc="73" dirty="0">
                <a:solidFill>
                  <a:srgbClr val="1B2A47"/>
                </a:solidFill>
                <a:latin typeface="Poppins Bold"/>
                <a:ea typeface="Poppins Bold"/>
                <a:cs typeface="Poppins Bold"/>
                <a:sym typeface="Poppins Bold"/>
              </a:rPr>
              <a:t>High tariffs constrain prosperity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7060" y="441782"/>
            <a:ext cx="16445835" cy="1394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799" b="1" spc="-283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 1:  </a:t>
            </a:r>
            <a:r>
              <a:rPr lang="en-US" sz="4800" spc="-283" dirty="0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WHAT IS HAPPENING IN GLOBAL TRADE, AND HOW IS IT LINKED TO ECONOMIC PROSPERITY?</a:t>
            </a:r>
            <a:endParaRPr lang="en-US" sz="4799" spc="-283" dirty="0">
              <a:solidFill>
                <a:srgbClr val="FFFFFF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</p:txBody>
      </p:sp>
      <p:grpSp>
        <p:nvGrpSpPr>
          <p:cNvPr id="17" name="Group 17"/>
          <p:cNvGrpSpPr/>
          <p:nvPr/>
        </p:nvGrpSpPr>
        <p:grpSpPr>
          <a:xfrm rot="-5400000">
            <a:off x="11050477" y="604135"/>
            <a:ext cx="10050749" cy="11120504"/>
            <a:chOff x="16381" y="86236"/>
            <a:chExt cx="1832494" cy="2027536"/>
          </a:xfrm>
        </p:grpSpPr>
        <p:sp>
          <p:nvSpPr>
            <p:cNvPr id="18" name="Freeform 18"/>
            <p:cNvSpPr/>
            <p:nvPr/>
          </p:nvSpPr>
          <p:spPr>
            <a:xfrm>
              <a:off x="16381" y="86236"/>
              <a:ext cx="1832494" cy="2027536"/>
            </a:xfrm>
            <a:custGeom>
              <a:avLst/>
              <a:gdLst/>
              <a:ahLst/>
              <a:cxnLst/>
              <a:rect l="l" t="t" r="r" b="b"/>
              <a:pathLst>
                <a:path w="1832494" h="2027536">
                  <a:moveTo>
                    <a:pt x="915579" y="0"/>
                  </a:moveTo>
                  <a:cubicBezTo>
                    <a:pt x="410852" y="0"/>
                    <a:pt x="0" y="909385"/>
                    <a:pt x="0" y="2027536"/>
                  </a:cubicBezTo>
                  <a:lnTo>
                    <a:pt x="46034" y="2027536"/>
                  </a:lnTo>
                  <a:cubicBezTo>
                    <a:pt x="46034" y="965129"/>
                    <a:pt x="435833" y="101832"/>
                    <a:pt x="915579" y="101832"/>
                  </a:cubicBezTo>
                  <a:cubicBezTo>
                    <a:pt x="1395326" y="101832"/>
                    <a:pt x="1786460" y="965129"/>
                    <a:pt x="1786460" y="2027536"/>
                  </a:cubicBezTo>
                  <a:lnTo>
                    <a:pt x="1832494" y="2027536"/>
                  </a:lnTo>
                  <a:cubicBezTo>
                    <a:pt x="1832494" y="909385"/>
                    <a:pt x="1421642" y="0"/>
                    <a:pt x="915579" y="0"/>
                  </a:cubicBezTo>
                  <a:close/>
                </a:path>
              </a:pathLst>
            </a:custGeom>
            <a:solidFill>
              <a:srgbClr val="D6D5CE"/>
            </a:solidFill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9" name="Freeform 19"/>
          <p:cNvSpPr/>
          <p:nvPr/>
        </p:nvSpPr>
        <p:spPr>
          <a:xfrm>
            <a:off x="12895800" y="-6773855"/>
            <a:ext cx="22566900" cy="8499785"/>
          </a:xfrm>
          <a:custGeom>
            <a:avLst/>
            <a:gdLst/>
            <a:ahLst/>
            <a:cxnLst/>
            <a:rect l="l" t="t" r="r" b="b"/>
            <a:pathLst>
              <a:path w="22566900" h="8499785">
                <a:moveTo>
                  <a:pt x="0" y="0"/>
                </a:moveTo>
                <a:lnTo>
                  <a:pt x="22566900" y="0"/>
                </a:lnTo>
                <a:lnTo>
                  <a:pt x="22566900" y="8499785"/>
                </a:lnTo>
                <a:lnTo>
                  <a:pt x="0" y="8499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548061-9090-4B9C-53E8-E699256FEE4B}"/>
              </a:ext>
            </a:extLst>
          </p:cNvPr>
          <p:cNvSpPr txBox="1"/>
          <p:nvPr/>
        </p:nvSpPr>
        <p:spPr>
          <a:xfrm>
            <a:off x="4095750" y="2901434"/>
            <a:ext cx="2091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NZ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>
          <a:xfrm>
            <a:off x="0" y="1562100"/>
            <a:ext cx="18288000" cy="9790339"/>
            <a:chOff x="0" y="0"/>
            <a:chExt cx="4816593" cy="2455329"/>
          </a:xfrm>
        </p:grpSpPr>
        <p:sp>
          <p:nvSpPr>
            <p:cNvPr id="3" name="Freeform 3"/>
            <p:cNvSpPr>
              <a:spLocks/>
            </p:cNvSpPr>
            <p:nvPr/>
          </p:nvSpPr>
          <p:spPr>
            <a:xfrm>
              <a:off x="0" y="0"/>
              <a:ext cx="4816592" cy="2455329"/>
            </a:xfrm>
            <a:custGeom>
              <a:avLst/>
              <a:gdLst/>
              <a:ahLst/>
              <a:cxnLst/>
              <a:rect l="l" t="t" r="r" b="b"/>
              <a:pathLst>
                <a:path w="4816592" h="2455329">
                  <a:moveTo>
                    <a:pt x="0" y="0"/>
                  </a:moveTo>
                  <a:lnTo>
                    <a:pt x="4816592" y="0"/>
                  </a:lnTo>
                  <a:lnTo>
                    <a:pt x="4816592" y="2455329"/>
                  </a:lnTo>
                  <a:lnTo>
                    <a:pt x="0" y="24553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>
              <a:spLocks/>
            </p:cNvSpPr>
            <p:nvPr/>
          </p:nvSpPr>
          <p:spPr>
            <a:xfrm>
              <a:off x="0" y="-47625"/>
              <a:ext cx="4816593" cy="250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A9C32CB-6D07-CAEE-7000-4B1FD074127C}"/>
              </a:ext>
            </a:extLst>
          </p:cNvPr>
          <p:cNvGrpSpPr/>
          <p:nvPr/>
        </p:nvGrpSpPr>
        <p:grpSpPr>
          <a:xfrm>
            <a:off x="-744579" y="5402311"/>
            <a:ext cx="9772725" cy="5588088"/>
            <a:chOff x="-855029" y="5492474"/>
            <a:chExt cx="9772725" cy="5588088"/>
          </a:xfrm>
        </p:grpSpPr>
        <p:grpSp>
          <p:nvGrpSpPr>
            <p:cNvPr id="8" name="Group 8"/>
            <p:cNvGrpSpPr/>
            <p:nvPr/>
          </p:nvGrpSpPr>
          <p:grpSpPr>
            <a:xfrm>
              <a:off x="-401004" y="5492474"/>
              <a:ext cx="9130997" cy="5588088"/>
              <a:chOff x="0" y="-47625"/>
              <a:chExt cx="2404872" cy="147176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404872" cy="1424135"/>
              </a:xfrm>
              <a:custGeom>
                <a:avLst/>
                <a:gdLst/>
                <a:ahLst/>
                <a:cxnLst/>
                <a:rect l="l" t="t" r="r" b="b"/>
                <a:pathLst>
                  <a:path w="2404872" h="1424135">
                    <a:moveTo>
                      <a:pt x="42394" y="0"/>
                    </a:moveTo>
                    <a:lnTo>
                      <a:pt x="2362478" y="0"/>
                    </a:lnTo>
                    <a:cubicBezTo>
                      <a:pt x="2385892" y="0"/>
                      <a:pt x="2404872" y="18980"/>
                      <a:pt x="2404872" y="42394"/>
                    </a:cubicBezTo>
                    <a:lnTo>
                      <a:pt x="2404872" y="1381741"/>
                    </a:lnTo>
                    <a:cubicBezTo>
                      <a:pt x="2404872" y="1405155"/>
                      <a:pt x="2385892" y="1424135"/>
                      <a:pt x="2362478" y="1424135"/>
                    </a:cubicBezTo>
                    <a:lnTo>
                      <a:pt x="42394" y="1424135"/>
                    </a:lnTo>
                    <a:cubicBezTo>
                      <a:pt x="18980" y="1424135"/>
                      <a:pt x="0" y="1405155"/>
                      <a:pt x="0" y="1381741"/>
                    </a:cubicBezTo>
                    <a:lnTo>
                      <a:pt x="0" y="42394"/>
                    </a:lnTo>
                    <a:cubicBezTo>
                      <a:pt x="0" y="18980"/>
                      <a:pt x="18980" y="0"/>
                      <a:pt x="42394" y="0"/>
                    </a:cubicBezTo>
                    <a:close/>
                  </a:path>
                </a:pathLst>
              </a:custGeom>
              <a:solidFill>
                <a:srgbClr val="869FB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404872" cy="14717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25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-855029" y="6575405"/>
              <a:ext cx="9772725" cy="3306799"/>
              <a:chOff x="-49436" y="-47625"/>
              <a:chExt cx="2573887" cy="87092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-49436" y="18111"/>
                <a:ext cx="2524451" cy="805191"/>
              </a:xfrm>
              <a:custGeom>
                <a:avLst/>
                <a:gdLst/>
                <a:ahLst/>
                <a:cxnLst/>
                <a:rect l="l" t="t" r="r" b="b"/>
                <a:pathLst>
                  <a:path w="2524451" h="805191">
                    <a:moveTo>
                      <a:pt x="0" y="0"/>
                    </a:moveTo>
                    <a:lnTo>
                      <a:pt x="2524451" y="0"/>
                    </a:lnTo>
                    <a:lnTo>
                      <a:pt x="2524451" y="805191"/>
                    </a:lnTo>
                    <a:lnTo>
                      <a:pt x="0" y="805191"/>
                    </a:lnTo>
                    <a:close/>
                  </a:path>
                </a:pathLst>
              </a:custGeom>
              <a:solidFill>
                <a:srgbClr val="E3E9E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524451" cy="8528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25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30780" y="5888498"/>
              <a:ext cx="2989128" cy="779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561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103" b="0" i="0" u="none" strike="noStrike" kern="1200" cap="none" spc="-301" normalizeH="0" baseline="0" noProof="0">
                  <a:ln>
                    <a:noFill/>
                  </a:ln>
                  <a:solidFill>
                    <a:srgbClr val="21355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EXPORT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05086" y="5943781"/>
              <a:ext cx="6077882" cy="6115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6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599" b="0" i="0" u="none" strike="noStrike" kern="1200" cap="none" spc="7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Top 5 Categories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9157" y="6972545"/>
              <a:ext cx="7075263" cy="2438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Agricultural Products</a:t>
              </a:r>
            </a:p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Food</a:t>
              </a:r>
            </a:p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Manufactures</a:t>
              </a:r>
            </a:p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Machinery</a:t>
              </a:r>
            </a:p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Mining Products &amp; Subsidiaries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31981" y="340435"/>
            <a:ext cx="18288000" cy="1696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6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-35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QUESTION 2:</a:t>
            </a:r>
            <a:r>
              <a:rPr kumimoji="0" lang="en-US" sz="6003" b="1" i="0" u="none" strike="noStrike" kern="1200" cap="none" spc="-35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kumimoji="0" lang="en-US" sz="4400" i="0" u="none" strike="noStrike" kern="1200" cap="none" spc="-35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WHICH PRODUCTS AND COUNTRIES DOMINATE GLOBAL TRADE?</a:t>
            </a:r>
          </a:p>
          <a:p>
            <a:pPr marL="0" marR="0" lvl="0" indent="0" algn="l" defTabSz="914400" rtl="0" eaLnBrk="1" fontAlgn="auto" latinLnBrk="0" hangingPunct="1">
              <a:lnSpc>
                <a:spcPts val="66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3" b="1" i="0" u="none" strike="noStrike" kern="1200" cap="none" spc="-354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3193" y="2092465"/>
            <a:ext cx="15930948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marR="0" lvl="1" indent="-431798" algn="ctr" defTabSz="914400" rtl="0" eaLnBrk="1" fontAlgn="auto" latinLnBrk="0" hangingPunct="1">
              <a:lnSpc>
                <a:spcPts val="5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999" b="0" i="0" u="none" strike="noStrike" kern="1200" cap="none" spc="79" normalizeH="0" baseline="0" noProof="0" dirty="0">
                <a:ln>
                  <a:noFill/>
                </a:ln>
                <a:solidFill>
                  <a:srgbClr val="21355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 small club of economies dominates both sides of trade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8679" y="4304433"/>
            <a:ext cx="14748208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1" marR="0" lvl="1" indent="-431801" algn="ctr" defTabSz="914400" rtl="0" eaLnBrk="1" fontAlgn="auto" latinLnBrk="0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0" i="0" u="none" strike="noStrike" kern="1200" cap="none" spc="80" normalizeH="0" baseline="0" noProof="0" dirty="0">
                <a:ln>
                  <a:noFill/>
                </a:ln>
                <a:solidFill>
                  <a:srgbClr val="21355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Manufactured goods dominate global trade baskets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8035" y="3229540"/>
            <a:ext cx="15261490" cy="64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1" marR="0" lvl="1" indent="-431801" algn="ctr" defTabSz="914400" rtl="0" eaLnBrk="1" fontAlgn="auto" latinLnBrk="0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0" i="0" u="none" strike="noStrike" kern="1200" cap="none" spc="80" normalizeH="0" baseline="0" noProof="0" dirty="0">
                <a:ln>
                  <a:noFill/>
                </a:ln>
                <a:solidFill>
                  <a:srgbClr val="21355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Country </a:t>
            </a:r>
            <a:r>
              <a:rPr kumimoji="0" lang="en-US" sz="4000" b="0" i="0" u="none" strike="noStrike" kern="1200" cap="none" spc="80" normalizeH="0" baseline="0" noProof="0" dirty="0" err="1">
                <a:ln>
                  <a:noFill/>
                </a:ln>
                <a:solidFill>
                  <a:srgbClr val="21355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speciali</a:t>
            </a:r>
            <a:r>
              <a:rPr lang="en-US" sz="4000" spc="80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z</a:t>
            </a:r>
            <a:r>
              <a:rPr kumimoji="0" lang="en-US" sz="4000" b="0" i="0" u="none" strike="noStrike" kern="1200" cap="none" spc="80" normalizeH="0" baseline="0" noProof="0" dirty="0" err="1">
                <a:ln>
                  <a:noFill/>
                </a:ln>
                <a:solidFill>
                  <a:srgbClr val="21355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ation</a:t>
            </a:r>
            <a:r>
              <a:rPr kumimoji="0" lang="en-US" sz="4000" b="0" i="0" u="none" strike="noStrike" kern="1200" cap="none" spc="80" normalizeH="0" baseline="0" noProof="0" dirty="0">
                <a:ln>
                  <a:noFill/>
                </a:ln>
                <a:solidFill>
                  <a:srgbClr val="21355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aligns with product dominance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44A1822-4751-F5D2-4DEE-4E3F13D3A44D}"/>
              </a:ext>
            </a:extLst>
          </p:cNvPr>
          <p:cNvGrpSpPr/>
          <p:nvPr/>
        </p:nvGrpSpPr>
        <p:grpSpPr>
          <a:xfrm>
            <a:off x="9297964" y="5583137"/>
            <a:ext cx="10570647" cy="6270656"/>
            <a:chOff x="9364768" y="5673301"/>
            <a:chExt cx="10570647" cy="6270656"/>
          </a:xfrm>
        </p:grpSpPr>
        <p:grpSp>
          <p:nvGrpSpPr>
            <p:cNvPr id="5" name="Group 5"/>
            <p:cNvGrpSpPr/>
            <p:nvPr/>
          </p:nvGrpSpPr>
          <p:grpSpPr>
            <a:xfrm>
              <a:off x="9369579" y="5673301"/>
              <a:ext cx="9449195" cy="5407263"/>
              <a:chOff x="0" y="0"/>
              <a:chExt cx="2574113" cy="1525752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574113" cy="1573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25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0" y="0"/>
                <a:ext cx="2574113" cy="1525752"/>
              </a:xfrm>
              <a:custGeom>
                <a:avLst/>
                <a:gdLst/>
                <a:ahLst/>
                <a:cxnLst/>
                <a:rect l="l" t="t" r="r" b="b"/>
                <a:pathLst>
                  <a:path w="2574113" h="1525752">
                    <a:moveTo>
                      <a:pt x="39606" y="0"/>
                    </a:moveTo>
                    <a:lnTo>
                      <a:pt x="2534507" y="0"/>
                    </a:lnTo>
                    <a:cubicBezTo>
                      <a:pt x="2545011" y="0"/>
                      <a:pt x="2555085" y="4173"/>
                      <a:pt x="2562512" y="11600"/>
                    </a:cubicBezTo>
                    <a:cubicBezTo>
                      <a:pt x="2569940" y="19028"/>
                      <a:pt x="2574113" y="29102"/>
                      <a:pt x="2574113" y="39606"/>
                    </a:cubicBezTo>
                    <a:lnTo>
                      <a:pt x="2574113" y="1486146"/>
                    </a:lnTo>
                    <a:cubicBezTo>
                      <a:pt x="2574113" y="1496650"/>
                      <a:pt x="2569940" y="1506724"/>
                      <a:pt x="2562512" y="1514152"/>
                    </a:cubicBezTo>
                    <a:cubicBezTo>
                      <a:pt x="2555085" y="1521580"/>
                      <a:pt x="2545011" y="1525752"/>
                      <a:pt x="2534507" y="1525752"/>
                    </a:cubicBezTo>
                    <a:lnTo>
                      <a:pt x="39606" y="1525752"/>
                    </a:lnTo>
                    <a:cubicBezTo>
                      <a:pt x="29102" y="1525752"/>
                      <a:pt x="19028" y="1521580"/>
                      <a:pt x="11600" y="1514152"/>
                    </a:cubicBezTo>
                    <a:cubicBezTo>
                      <a:pt x="4173" y="1506724"/>
                      <a:pt x="0" y="1496650"/>
                      <a:pt x="0" y="1486146"/>
                    </a:cubicBezTo>
                    <a:lnTo>
                      <a:pt x="0" y="39606"/>
                    </a:lnTo>
                    <a:cubicBezTo>
                      <a:pt x="0" y="29102"/>
                      <a:pt x="4173" y="19028"/>
                      <a:pt x="11600" y="11600"/>
                    </a:cubicBezTo>
                    <a:cubicBezTo>
                      <a:pt x="19028" y="4173"/>
                      <a:pt x="29102" y="0"/>
                      <a:pt x="39606" y="0"/>
                    </a:cubicBezTo>
                    <a:close/>
                  </a:path>
                </a:pathLst>
              </a:custGeom>
              <a:solidFill>
                <a:srgbClr val="B9CCD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0157190" y="5874167"/>
              <a:ext cx="2740157" cy="727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561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100" b="0" i="0" u="none" strike="noStrike" kern="1200" cap="none" spc="-300" normalizeH="0" baseline="0" noProof="0" dirty="0">
                  <a:ln>
                    <a:noFill/>
                  </a:ln>
                  <a:solidFill>
                    <a:srgbClr val="21355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IMPORT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12373" y="5925768"/>
              <a:ext cx="4285064" cy="570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67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599" b="0" i="0" u="none" strike="noStrike" kern="1200" cap="none" spc="71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Top 5 Categories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9364768" y="6827428"/>
              <a:ext cx="10570647" cy="5116529"/>
              <a:chOff x="-115982" y="-622078"/>
              <a:chExt cx="2907582" cy="142726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-115982" y="-622078"/>
                <a:ext cx="2791600" cy="851189"/>
              </a:xfrm>
              <a:custGeom>
                <a:avLst/>
                <a:gdLst/>
                <a:ahLst/>
                <a:cxnLst/>
                <a:rect l="l" t="t" r="r" b="b"/>
                <a:pathLst>
                  <a:path w="2791600" h="805191">
                    <a:moveTo>
                      <a:pt x="0" y="0"/>
                    </a:moveTo>
                    <a:lnTo>
                      <a:pt x="2791600" y="0"/>
                    </a:lnTo>
                    <a:lnTo>
                      <a:pt x="2791600" y="805191"/>
                    </a:lnTo>
                    <a:lnTo>
                      <a:pt x="0" y="805191"/>
                    </a:lnTo>
                    <a:close/>
                  </a:path>
                </a:pathLst>
              </a:custGeom>
              <a:solidFill>
                <a:srgbClr val="E3E9E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791600" cy="8528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25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1019046" y="7096758"/>
              <a:ext cx="6840432" cy="2275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Manufactures</a:t>
              </a:r>
            </a:p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Machinery</a:t>
              </a:r>
            </a:p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Transport equipment</a:t>
              </a:r>
            </a:p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Mining Products &amp; Subsidiaries</a:t>
              </a:r>
            </a:p>
            <a:p>
              <a:pPr marL="647698" marR="0" lvl="1" indent="-323849" algn="l" defTabSz="914400" rtl="0" eaLnBrk="1" fontAlgn="auto" latinLnBrk="0" hangingPunct="1">
                <a:lnSpc>
                  <a:spcPts val="38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999" b="0" i="0" u="none" strike="noStrike" kern="1200" cap="none" spc="59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Fuels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F452949-615F-6B18-B705-CDACA46A3217}"/>
              </a:ext>
            </a:extLst>
          </p:cNvPr>
          <p:cNvGrpSpPr/>
          <p:nvPr/>
        </p:nvGrpSpPr>
        <p:grpSpPr>
          <a:xfrm>
            <a:off x="7490932" y="6674346"/>
            <a:ext cx="3080343" cy="3125426"/>
            <a:chOff x="14985658" y="-1581484"/>
            <a:chExt cx="3145741" cy="3145741"/>
          </a:xfrm>
        </p:grpSpPr>
        <p:grpSp>
          <p:nvGrpSpPr>
            <p:cNvPr id="21" name="Group 21"/>
            <p:cNvGrpSpPr>
              <a:grpSpLocks/>
            </p:cNvGrpSpPr>
            <p:nvPr/>
          </p:nvGrpSpPr>
          <p:grpSpPr>
            <a:xfrm>
              <a:off x="14985658" y="-1581484"/>
              <a:ext cx="3145741" cy="3145741"/>
              <a:chOff x="-6860" y="-19937"/>
              <a:chExt cx="812800" cy="812800"/>
            </a:xfrm>
          </p:grpSpPr>
          <p:sp>
            <p:nvSpPr>
              <p:cNvPr id="23" name="TextBox 23"/>
              <p:cNvSpPr txBox="1">
                <a:spLocks/>
              </p:cNvSpPr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25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Freeform 22"/>
              <p:cNvSpPr>
                <a:spLocks/>
              </p:cNvSpPr>
              <p:nvPr/>
            </p:nvSpPr>
            <p:spPr>
              <a:xfrm>
                <a:off x="-6860" y="-1993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15185319" y="-1381823"/>
              <a:ext cx="2746417" cy="2746417"/>
            </a:xfrm>
            <a:custGeom>
              <a:avLst/>
              <a:gdLst/>
              <a:ahLst/>
              <a:cxnLst/>
              <a:rect l="l" t="t" r="r" b="b"/>
              <a:pathLst>
                <a:path w="2746417" h="2746417">
                  <a:moveTo>
                    <a:pt x="0" y="0"/>
                  </a:moveTo>
                  <a:lnTo>
                    <a:pt x="2746418" y="0"/>
                  </a:lnTo>
                  <a:lnTo>
                    <a:pt x="2746418" y="2746417"/>
                  </a:lnTo>
                  <a:lnTo>
                    <a:pt x="0" y="2746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46849" y="-1054001"/>
            <a:ext cx="19897509" cy="7494363"/>
          </a:xfrm>
          <a:custGeom>
            <a:avLst/>
            <a:gdLst/>
            <a:ahLst/>
            <a:cxnLst/>
            <a:rect l="l" t="t" r="r" b="b"/>
            <a:pathLst>
              <a:path w="19897509" h="7494363">
                <a:moveTo>
                  <a:pt x="0" y="0"/>
                </a:moveTo>
                <a:lnTo>
                  <a:pt x="19897509" y="0"/>
                </a:lnTo>
                <a:lnTo>
                  <a:pt x="19897509" y="7494363"/>
                </a:lnTo>
                <a:lnTo>
                  <a:pt x="0" y="749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8084" y="1923492"/>
            <a:ext cx="15194241" cy="7725157"/>
          </a:xfrm>
          <a:custGeom>
            <a:avLst/>
            <a:gdLst/>
            <a:ahLst/>
            <a:cxnLst/>
            <a:rect l="l" t="t" r="r" b="b"/>
            <a:pathLst>
              <a:path w="15194241" h="7725157">
                <a:moveTo>
                  <a:pt x="0" y="0"/>
                </a:moveTo>
                <a:lnTo>
                  <a:pt x="15194241" y="0"/>
                </a:lnTo>
                <a:lnTo>
                  <a:pt x="15194241" y="7725157"/>
                </a:lnTo>
                <a:lnTo>
                  <a:pt x="0" y="7725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-6822832" y="7532347"/>
            <a:ext cx="11237547" cy="4232603"/>
          </a:xfrm>
          <a:custGeom>
            <a:avLst/>
            <a:gdLst/>
            <a:ahLst/>
            <a:cxnLst/>
            <a:rect l="l" t="t" r="r" b="b"/>
            <a:pathLst>
              <a:path w="11237547" h="4232603">
                <a:moveTo>
                  <a:pt x="0" y="0"/>
                </a:moveTo>
                <a:lnTo>
                  <a:pt x="11237547" y="0"/>
                </a:lnTo>
                <a:lnTo>
                  <a:pt x="11237547" y="4232604"/>
                </a:lnTo>
                <a:lnTo>
                  <a:pt x="0" y="4232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2383833" y="3637645"/>
            <a:ext cx="13520334" cy="2775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600" b="1" spc="112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 3: </a:t>
            </a:r>
          </a:p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600" b="1" spc="112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Where should companies allocate their trade-related investments?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81000" y="263119"/>
            <a:ext cx="1639240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spc="-354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K-MEANS CLUSTERING : 4 COUNTRY TYPES</a:t>
            </a:r>
          </a:p>
        </p:txBody>
      </p:sp>
      <p:grpSp>
        <p:nvGrpSpPr>
          <p:cNvPr id="3" name="Group 3"/>
          <p:cNvGrpSpPr/>
          <p:nvPr/>
        </p:nvGrpSpPr>
        <p:grpSpPr>
          <a:xfrm rot="-5400000">
            <a:off x="1599540" y="4137320"/>
            <a:ext cx="9139997" cy="3906193"/>
            <a:chOff x="0" y="0"/>
            <a:chExt cx="782434" cy="8012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2434" cy="801260"/>
            </a:xfrm>
            <a:custGeom>
              <a:avLst/>
              <a:gdLst/>
              <a:ahLst/>
              <a:cxnLst/>
              <a:rect l="l" t="t" r="r" b="b"/>
              <a:pathLst>
                <a:path w="782434" h="801260">
                  <a:moveTo>
                    <a:pt x="25411" y="0"/>
                  </a:moveTo>
                  <a:lnTo>
                    <a:pt x="757022" y="0"/>
                  </a:lnTo>
                  <a:cubicBezTo>
                    <a:pt x="771057" y="0"/>
                    <a:pt x="782434" y="11377"/>
                    <a:pt x="782434" y="25411"/>
                  </a:cubicBezTo>
                  <a:lnTo>
                    <a:pt x="782434" y="775849"/>
                  </a:lnTo>
                  <a:cubicBezTo>
                    <a:pt x="782434" y="789883"/>
                    <a:pt x="771057" y="801260"/>
                    <a:pt x="757022" y="801260"/>
                  </a:cubicBezTo>
                  <a:lnTo>
                    <a:pt x="25411" y="801260"/>
                  </a:lnTo>
                  <a:cubicBezTo>
                    <a:pt x="18672" y="801260"/>
                    <a:pt x="12208" y="798583"/>
                    <a:pt x="7443" y="793817"/>
                  </a:cubicBezTo>
                  <a:cubicBezTo>
                    <a:pt x="2677" y="789052"/>
                    <a:pt x="0" y="782588"/>
                    <a:pt x="0" y="775849"/>
                  </a:cubicBezTo>
                  <a:lnTo>
                    <a:pt x="0" y="25411"/>
                  </a:lnTo>
                  <a:cubicBezTo>
                    <a:pt x="0" y="11377"/>
                    <a:pt x="11377" y="0"/>
                    <a:pt x="25411" y="0"/>
                  </a:cubicBezTo>
                  <a:close/>
                </a:path>
              </a:pathLst>
            </a:custGeom>
            <a:solidFill>
              <a:srgbClr val="6998B5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782434" cy="848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5155210" y="4360728"/>
            <a:ext cx="9139997" cy="3459371"/>
            <a:chOff x="0" y="0"/>
            <a:chExt cx="782434" cy="812800"/>
          </a:xfrm>
          <a:solidFill>
            <a:srgbClr val="5F7D95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782434" cy="812800"/>
            </a:xfrm>
            <a:custGeom>
              <a:avLst/>
              <a:gdLst/>
              <a:ahLst/>
              <a:cxnLst/>
              <a:rect l="l" t="t" r="r" b="b"/>
              <a:pathLst>
                <a:path w="782434" h="812800">
                  <a:moveTo>
                    <a:pt x="25411" y="0"/>
                  </a:moveTo>
                  <a:lnTo>
                    <a:pt x="757022" y="0"/>
                  </a:lnTo>
                  <a:cubicBezTo>
                    <a:pt x="771057" y="0"/>
                    <a:pt x="782434" y="11377"/>
                    <a:pt x="782434" y="25411"/>
                  </a:cubicBezTo>
                  <a:lnTo>
                    <a:pt x="782434" y="787389"/>
                  </a:lnTo>
                  <a:cubicBezTo>
                    <a:pt x="782434" y="801423"/>
                    <a:pt x="771057" y="812800"/>
                    <a:pt x="757022" y="812800"/>
                  </a:cubicBezTo>
                  <a:lnTo>
                    <a:pt x="25411" y="812800"/>
                  </a:lnTo>
                  <a:cubicBezTo>
                    <a:pt x="11377" y="812800"/>
                    <a:pt x="0" y="801423"/>
                    <a:pt x="0" y="787389"/>
                  </a:cubicBezTo>
                  <a:lnTo>
                    <a:pt x="0" y="25411"/>
                  </a:lnTo>
                  <a:cubicBezTo>
                    <a:pt x="0" y="11377"/>
                    <a:pt x="11377" y="0"/>
                    <a:pt x="25411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782434" cy="8604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8490872" y="4283075"/>
            <a:ext cx="9228032" cy="3702719"/>
            <a:chOff x="0" y="0"/>
            <a:chExt cx="785117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5117" cy="812800"/>
            </a:xfrm>
            <a:custGeom>
              <a:avLst/>
              <a:gdLst/>
              <a:ahLst/>
              <a:cxnLst/>
              <a:rect l="l" t="t" r="r" b="b"/>
              <a:pathLst>
                <a:path w="785117" h="812800">
                  <a:moveTo>
                    <a:pt x="25169" y="0"/>
                  </a:moveTo>
                  <a:lnTo>
                    <a:pt x="759948" y="0"/>
                  </a:lnTo>
                  <a:cubicBezTo>
                    <a:pt x="773848" y="0"/>
                    <a:pt x="785117" y="11268"/>
                    <a:pt x="785117" y="25169"/>
                  </a:cubicBezTo>
                  <a:lnTo>
                    <a:pt x="785117" y="787631"/>
                  </a:lnTo>
                  <a:cubicBezTo>
                    <a:pt x="785117" y="801532"/>
                    <a:pt x="773848" y="812800"/>
                    <a:pt x="759948" y="812800"/>
                  </a:cubicBezTo>
                  <a:lnTo>
                    <a:pt x="25169" y="812800"/>
                  </a:lnTo>
                  <a:cubicBezTo>
                    <a:pt x="11268" y="812800"/>
                    <a:pt x="0" y="801532"/>
                    <a:pt x="0" y="787631"/>
                  </a:cubicBezTo>
                  <a:lnTo>
                    <a:pt x="0" y="25169"/>
                  </a:lnTo>
                  <a:cubicBezTo>
                    <a:pt x="0" y="11268"/>
                    <a:pt x="11268" y="0"/>
                    <a:pt x="25169" y="0"/>
                  </a:cubicBezTo>
                  <a:close/>
                </a:path>
              </a:pathLst>
            </a:custGeom>
            <a:solidFill>
              <a:srgbClr val="2A4A82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785117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11999955" y="4202421"/>
            <a:ext cx="9139996" cy="3775988"/>
            <a:chOff x="0" y="0"/>
            <a:chExt cx="780094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0094" cy="812800"/>
            </a:xfrm>
            <a:custGeom>
              <a:avLst/>
              <a:gdLst/>
              <a:ahLst/>
              <a:cxnLst/>
              <a:rect l="l" t="t" r="r" b="b"/>
              <a:pathLst>
                <a:path w="780094" h="812800">
                  <a:moveTo>
                    <a:pt x="27451" y="0"/>
                  </a:moveTo>
                  <a:lnTo>
                    <a:pt x="752644" y="0"/>
                  </a:lnTo>
                  <a:cubicBezTo>
                    <a:pt x="759924" y="0"/>
                    <a:pt x="766906" y="2892"/>
                    <a:pt x="772054" y="8040"/>
                  </a:cubicBezTo>
                  <a:cubicBezTo>
                    <a:pt x="777202" y="13188"/>
                    <a:pt x="780094" y="20170"/>
                    <a:pt x="780094" y="27451"/>
                  </a:cubicBezTo>
                  <a:lnTo>
                    <a:pt x="780094" y="785349"/>
                  </a:lnTo>
                  <a:cubicBezTo>
                    <a:pt x="780094" y="792630"/>
                    <a:pt x="777202" y="799612"/>
                    <a:pt x="772054" y="804760"/>
                  </a:cubicBezTo>
                  <a:cubicBezTo>
                    <a:pt x="766906" y="809908"/>
                    <a:pt x="759924" y="812800"/>
                    <a:pt x="752644" y="812800"/>
                  </a:cubicBezTo>
                  <a:lnTo>
                    <a:pt x="27451" y="812800"/>
                  </a:lnTo>
                  <a:cubicBezTo>
                    <a:pt x="20170" y="812800"/>
                    <a:pt x="13188" y="809908"/>
                    <a:pt x="8040" y="804760"/>
                  </a:cubicBezTo>
                  <a:cubicBezTo>
                    <a:pt x="2892" y="799612"/>
                    <a:pt x="0" y="792630"/>
                    <a:pt x="0" y="785349"/>
                  </a:cubicBezTo>
                  <a:lnTo>
                    <a:pt x="0" y="27451"/>
                  </a:lnTo>
                  <a:cubicBezTo>
                    <a:pt x="0" y="20170"/>
                    <a:pt x="2892" y="13188"/>
                    <a:pt x="8040" y="8040"/>
                  </a:cubicBezTo>
                  <a:cubicBezTo>
                    <a:pt x="13188" y="2892"/>
                    <a:pt x="20170" y="0"/>
                    <a:pt x="27451" y="0"/>
                  </a:cubicBezTo>
                  <a:close/>
                </a:path>
              </a:pathLst>
            </a:custGeom>
            <a:solidFill>
              <a:srgbClr val="1B2A47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80094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15" name="Group 15"/>
          <p:cNvGrpSpPr>
            <a:grpSpLocks noGrp="1" noUngrp="1" noRot="1" noMove="1" noResize="1"/>
          </p:cNvGrpSpPr>
          <p:nvPr/>
        </p:nvGrpSpPr>
        <p:grpSpPr>
          <a:xfrm rot="-10800000">
            <a:off x="-873402" y="5640502"/>
            <a:ext cx="21904601" cy="4646498"/>
            <a:chOff x="0" y="0"/>
            <a:chExt cx="931973" cy="448801"/>
          </a:xfrm>
        </p:grpSpPr>
        <p:sp>
          <p:nvSpPr>
            <p:cNvPr id="16" name="Freeform 1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931973" cy="485914"/>
            </a:xfrm>
            <a:custGeom>
              <a:avLst/>
              <a:gdLst/>
              <a:ahLst/>
              <a:cxnLst/>
              <a:rect l="l" t="t" r="r" b="b"/>
              <a:pathLst>
                <a:path w="931973" h="485914">
                  <a:moveTo>
                    <a:pt x="903698" y="0"/>
                  </a:moveTo>
                  <a:lnTo>
                    <a:pt x="28276" y="0"/>
                  </a:lnTo>
                  <a:cubicBezTo>
                    <a:pt x="20776" y="0"/>
                    <a:pt x="13584" y="2979"/>
                    <a:pt x="8282" y="8282"/>
                  </a:cubicBezTo>
                  <a:cubicBezTo>
                    <a:pt x="2979" y="13584"/>
                    <a:pt x="0" y="20776"/>
                    <a:pt x="0" y="28276"/>
                  </a:cubicBezTo>
                  <a:lnTo>
                    <a:pt x="0" y="402601"/>
                  </a:lnTo>
                  <a:cubicBezTo>
                    <a:pt x="49573" y="437464"/>
                    <a:pt x="208207" y="485914"/>
                    <a:pt x="446156" y="402601"/>
                  </a:cubicBezTo>
                  <a:cubicBezTo>
                    <a:pt x="684108" y="318928"/>
                    <a:pt x="869181" y="367737"/>
                    <a:pt x="931973" y="402601"/>
                  </a:cubicBezTo>
                  <a:lnTo>
                    <a:pt x="931973" y="28276"/>
                  </a:lnTo>
                  <a:cubicBezTo>
                    <a:pt x="931973" y="20776"/>
                    <a:pt x="928994" y="13584"/>
                    <a:pt x="923691" y="8282"/>
                  </a:cubicBezTo>
                  <a:cubicBezTo>
                    <a:pt x="918389" y="2979"/>
                    <a:pt x="911197" y="0"/>
                    <a:pt x="903698" y="0"/>
                  </a:cubicBezTo>
                  <a:close/>
                </a:path>
              </a:pathLst>
            </a:custGeom>
            <a:solidFill>
              <a:srgbClr val="CFD9E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931973" cy="400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125886" y="1726819"/>
            <a:ext cx="3748813" cy="134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4000" b="1" i="1" spc="80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Global FDI Gateways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84223" y="1694354"/>
            <a:ext cx="3887819" cy="133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  <a:spcBef>
                <a:spcPct val="0"/>
              </a:spcBef>
            </a:pPr>
            <a:r>
              <a:rPr lang="en-US" sz="3999" b="1" i="1" spc="79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Developing Markets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07645" y="1707332"/>
            <a:ext cx="4214747" cy="133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  <a:spcBef>
                <a:spcPct val="0"/>
              </a:spcBef>
            </a:pPr>
            <a:r>
              <a:rPr lang="en-US" sz="3999" b="1" i="1" spc="79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Established Powers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5052" y="1634728"/>
            <a:ext cx="3775987" cy="133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  <a:spcBef>
                <a:spcPct val="0"/>
              </a:spcBef>
            </a:pPr>
            <a:r>
              <a:rPr lang="en-US" sz="3999" b="1" i="1" spc="79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Emerging Mid-market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12372" y="7777161"/>
            <a:ext cx="5703206" cy="1385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4199" b="1" spc="83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Total Countries Clustered:</a:t>
            </a:r>
            <a:r>
              <a:rPr lang="en-US" sz="4199" spc="83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199" b="1" spc="83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132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61627" y="7043812"/>
            <a:ext cx="5112544" cy="67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4199" b="1" spc="83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4199" spc="83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57578" y="3261203"/>
            <a:ext cx="2503157" cy="1337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 spc="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Small but highest FDI inflows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87146" y="3226283"/>
            <a:ext cx="2811988" cy="1331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altLang="zh-CN" sz="2700" spc="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Low-income high tariffs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 spc="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Weak FDI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94400" y="3124200"/>
            <a:ext cx="3234259" cy="133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 spc="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Mature, low-risk developed markets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92931" y="3124200"/>
            <a:ext cx="3365016" cy="1331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 spc="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Well-built economies with strong upsides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78106" y="6810266"/>
            <a:ext cx="6132201" cy="679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4199" b="1" spc="83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 Silhouette score: 0.5</a:t>
            </a:r>
            <a:r>
              <a:rPr lang="en-US" sz="4199" spc="83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31816" y="6934094"/>
            <a:ext cx="5155803" cy="45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  <a:spcBef>
                <a:spcPct val="0"/>
              </a:spcBef>
            </a:pPr>
            <a:r>
              <a:rPr lang="en-US" sz="2800" b="1" spc="53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Input</a:t>
            </a:r>
            <a:r>
              <a:rPr lang="en-US" sz="2673" b="1" spc="53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 Features</a:t>
            </a:r>
            <a:r>
              <a:rPr lang="en-US" sz="2673" spc="53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60606" y="7194486"/>
            <a:ext cx="6545409" cy="2523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endParaRPr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800" spc="5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FDI</a:t>
            </a:r>
          </a:p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800" spc="5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HHI</a:t>
            </a:r>
          </a:p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800" spc="5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Population</a:t>
            </a:r>
          </a:p>
          <a:p>
            <a:pPr algn="l">
              <a:lnSpc>
                <a:spcPts val="3250"/>
              </a:lnSpc>
            </a:pPr>
            <a:endParaRPr lang="en-US" sz="2800" spc="5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algn="l">
              <a:lnSpc>
                <a:spcPts val="3250"/>
              </a:lnSpc>
              <a:spcBef>
                <a:spcPct val="0"/>
              </a:spcBef>
            </a:pPr>
            <a:endParaRPr lang="en-US" sz="2800" spc="5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195400" y="5076825"/>
            <a:ext cx="2611205" cy="116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 b="1" i="1" spc="69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88 Countries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956247" y="5076825"/>
            <a:ext cx="3633597" cy="55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499" b="1" i="1" spc="69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24 Countries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22635" y="5076825"/>
            <a:ext cx="3633597" cy="55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9"/>
              </a:lnSpc>
              <a:spcBef>
                <a:spcPct val="0"/>
              </a:spcBef>
            </a:pPr>
            <a:r>
              <a:rPr lang="en-US" altLang="zh-CN" sz="3499" b="1" i="1" spc="69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10 Countries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94400" y="5076825"/>
            <a:ext cx="3633597" cy="5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499" b="1" i="1" spc="69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10 Countries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E56E5A-F7D2-864F-545E-F3A700F0C997}"/>
              </a:ext>
            </a:extLst>
          </p:cNvPr>
          <p:cNvSpPr txBox="1"/>
          <p:nvPr/>
        </p:nvSpPr>
        <p:spPr>
          <a:xfrm>
            <a:off x="7533793" y="7578042"/>
            <a:ext cx="78422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Poppins" panose="00000500000000000000" pitchFamily="2" charset="0"/>
                <a:cs typeface="Poppins" panose="00000500000000000000" pitchFamily="2" charset="0"/>
              </a:rPr>
              <a:t>CAGR (5yr growth)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Poppins" panose="00000500000000000000" pitchFamily="2" charset="0"/>
                <a:cs typeface="Poppins" panose="00000500000000000000" pitchFamily="2" charset="0"/>
              </a:rPr>
              <a:t>GDP per capita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Poppins" panose="00000500000000000000" pitchFamily="2" charset="0"/>
                <a:cs typeface="Poppins" panose="00000500000000000000" pitchFamily="2" charset="0"/>
              </a:rPr>
              <a:t>Average Tariff</a:t>
            </a:r>
          </a:p>
        </p:txBody>
      </p:sp>
      <p:grpSp>
        <p:nvGrpSpPr>
          <p:cNvPr id="42" name="Group 29"/>
          <p:cNvGrpSpPr>
            <a:grpSpLocks/>
          </p:cNvGrpSpPr>
          <p:nvPr/>
        </p:nvGrpSpPr>
        <p:grpSpPr>
          <a:xfrm>
            <a:off x="-836722" y="263119"/>
            <a:ext cx="6769496" cy="9228033"/>
            <a:chOff x="-1081660" y="-1022012"/>
            <a:chExt cx="9021100" cy="12312951"/>
          </a:xfrm>
        </p:grpSpPr>
        <p:grpSp>
          <p:nvGrpSpPr>
            <p:cNvPr id="44" name="Group 30"/>
            <p:cNvGrpSpPr>
              <a:grpSpLocks/>
            </p:cNvGrpSpPr>
            <p:nvPr/>
          </p:nvGrpSpPr>
          <p:grpSpPr>
            <a:xfrm>
              <a:off x="46975" y="3382523"/>
              <a:ext cx="6831294" cy="6831294"/>
              <a:chOff x="0" y="0"/>
              <a:chExt cx="812800" cy="812800"/>
            </a:xfrm>
          </p:grpSpPr>
          <p:sp>
            <p:nvSpPr>
              <p:cNvPr id="46" name="Freeform 31"/>
              <p:cNvSpPr>
                <a:spLocks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6D1DD"/>
              </a:solidFill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48" name="TextBox 32"/>
              <p:cNvSpPr txBox="1">
                <a:spLocks/>
              </p:cNvSpPr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40113" tIns="40113" rIns="40113" bIns="40113" rtlCol="0" anchor="ctr"/>
              <a:lstStyle/>
              <a:p>
                <a:pPr algn="ctr">
                  <a:lnSpc>
                    <a:spcPts val="3250"/>
                  </a:lnSpc>
                </a:pPr>
                <a:endParaRPr/>
              </a:p>
            </p:txBody>
          </p:sp>
        </p:grpSp>
        <p:pic>
          <p:nvPicPr>
            <p:cNvPr id="45" name="Pictur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81660" y="-1022012"/>
              <a:ext cx="9021100" cy="12312951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14A2BF4-4C74-ECEE-92D1-2296DFD2A11E}"/>
              </a:ext>
            </a:extLst>
          </p:cNvPr>
          <p:cNvSpPr txBox="1"/>
          <p:nvPr/>
        </p:nvSpPr>
        <p:spPr>
          <a:xfrm>
            <a:off x="2870289" y="6696581"/>
            <a:ext cx="1327810" cy="65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4549"/>
              </a:lnSpc>
              <a:spcBef>
                <a:spcPct val="0"/>
              </a:spcBef>
              <a:defRPr/>
            </a:pPr>
            <a:r>
              <a:rPr lang="en-US" altLang="zh-CN" sz="3499" b="1" i="1" spc="69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66%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0200F6-791A-ABCE-01DA-B3F90E98732A}"/>
              </a:ext>
            </a:extLst>
          </p:cNvPr>
          <p:cNvSpPr txBox="1"/>
          <p:nvPr/>
        </p:nvSpPr>
        <p:spPr>
          <a:xfrm>
            <a:off x="1165532" y="4292770"/>
            <a:ext cx="1303269" cy="65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4549"/>
              </a:lnSpc>
              <a:spcBef>
                <a:spcPct val="0"/>
              </a:spcBef>
              <a:defRPr/>
            </a:pPr>
            <a:r>
              <a:rPr lang="en-US" altLang="zh-CN" sz="3499" b="1" i="1" spc="69" dirty="0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18%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4C4506-EE3E-5680-BAA3-A568B0E8FFF5}"/>
              </a:ext>
            </a:extLst>
          </p:cNvPr>
          <p:cNvSpPr txBox="1"/>
          <p:nvPr/>
        </p:nvSpPr>
        <p:spPr>
          <a:xfrm>
            <a:off x="422093" y="6423742"/>
            <a:ext cx="1133340" cy="65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5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499" b="1" i="1" u="none" strike="noStrike" kern="1200" cap="none" spc="6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 Italics"/>
                <a:ea typeface="Poppins Bold Italics"/>
                <a:cs typeface="Poppins Bold Italics"/>
                <a:sym typeface="Poppins Bold Italics"/>
              </a:rPr>
              <a:t>8%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4D92A5-36B8-3319-115B-32AABCC40DBA}"/>
              </a:ext>
            </a:extLst>
          </p:cNvPr>
          <p:cNvSpPr txBox="1"/>
          <p:nvPr/>
        </p:nvSpPr>
        <p:spPr>
          <a:xfrm>
            <a:off x="310303" y="5569959"/>
            <a:ext cx="954973" cy="65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5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499" b="1" i="1" u="none" strike="noStrike" kern="1200" cap="none" spc="6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 Italics"/>
                <a:ea typeface="Poppins Bold Italics"/>
                <a:cs typeface="Poppins Bold Italics"/>
                <a:sym typeface="Poppins Bold Italics"/>
              </a:rPr>
              <a:t>8%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4" grpId="0"/>
      <p:bldP spid="35" grpId="0"/>
      <p:bldP spid="36" grpId="0"/>
      <p:bldP spid="37" grpId="0"/>
      <p:bldP spid="38" grpId="0"/>
      <p:bldP spid="39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7255875">
            <a:off x="12003296" y="6937735"/>
            <a:ext cx="12322183" cy="4641129"/>
          </a:xfrm>
          <a:custGeom>
            <a:avLst/>
            <a:gdLst/>
            <a:ahLst/>
            <a:cxnLst/>
            <a:rect l="l" t="t" r="r" b="b"/>
            <a:pathLst>
              <a:path w="12322183" h="4641129">
                <a:moveTo>
                  <a:pt x="0" y="0"/>
                </a:moveTo>
                <a:lnTo>
                  <a:pt x="12322183" y="0"/>
                </a:lnTo>
                <a:lnTo>
                  <a:pt x="12322183" y="4641130"/>
                </a:lnTo>
                <a:lnTo>
                  <a:pt x="0" y="4641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5185199" y="412957"/>
            <a:ext cx="12950402" cy="1347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800" b="1" spc="-283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 3: </a:t>
            </a:r>
            <a:r>
              <a:rPr lang="en-US" sz="4000" spc="-283" dirty="0">
                <a:solidFill>
                  <a:srgbClr val="213559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WHERE SHOULD COMPANIES ALLOCATE THEIR TRADE-RELATED INVESTMENTS?</a:t>
            </a:r>
            <a:endParaRPr lang="en-US" sz="4400" spc="-283" dirty="0">
              <a:solidFill>
                <a:srgbClr val="213559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924666" y="1812863"/>
            <a:ext cx="9794056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spc="64" dirty="0">
                <a:solidFill>
                  <a:srgbClr val="213559"/>
                </a:solidFill>
                <a:latin typeface="Poppins"/>
                <a:ea typeface="Poppins"/>
                <a:cs typeface="Poppins"/>
                <a:sym typeface="Poppins"/>
              </a:rPr>
              <a:t>Top 5 Investment Destinations – Machinery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C311AA4-D4F5-6237-F222-C864078DD9AD}"/>
              </a:ext>
            </a:extLst>
          </p:cNvPr>
          <p:cNvGrpSpPr/>
          <p:nvPr/>
        </p:nvGrpSpPr>
        <p:grpSpPr>
          <a:xfrm>
            <a:off x="4863850" y="2414583"/>
            <a:ext cx="12372298" cy="1552315"/>
            <a:chOff x="4863850" y="2414583"/>
            <a:chExt cx="12372298" cy="155231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D139F03-3A0C-CC06-0E2A-A25B2F3642AE}"/>
                </a:ext>
              </a:extLst>
            </p:cNvPr>
            <p:cNvGrpSpPr/>
            <p:nvPr/>
          </p:nvGrpSpPr>
          <p:grpSpPr>
            <a:xfrm>
              <a:off x="4863850" y="2617049"/>
              <a:ext cx="12062240" cy="1218754"/>
              <a:chOff x="4863850" y="2617049"/>
              <a:chExt cx="12062240" cy="1218754"/>
            </a:xfrm>
          </p:grpSpPr>
          <p:grpSp>
            <p:nvGrpSpPr>
              <p:cNvPr id="14" name="Group 14"/>
              <p:cNvGrpSpPr/>
              <p:nvPr/>
            </p:nvGrpSpPr>
            <p:grpSpPr>
              <a:xfrm rot="5400000">
                <a:off x="10285593" y="-2804694"/>
                <a:ext cx="1218754" cy="12062240"/>
                <a:chOff x="0" y="0"/>
                <a:chExt cx="420559" cy="416235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0" y="0"/>
                  <a:ext cx="420559" cy="416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559" h="4162350">
                      <a:moveTo>
                        <a:pt x="140262" y="19070"/>
                      </a:moveTo>
                      <a:cubicBezTo>
                        <a:pt x="161753" y="7556"/>
                        <a:pt x="186335" y="0"/>
                        <a:pt x="210393" y="0"/>
                      </a:cubicBezTo>
                      <a:cubicBezTo>
                        <a:pt x="234451" y="0"/>
                        <a:pt x="257601" y="6476"/>
                        <a:pt x="278935" y="17990"/>
                      </a:cubicBezTo>
                      <a:cubicBezTo>
                        <a:pt x="279389" y="18350"/>
                        <a:pt x="279843" y="18350"/>
                        <a:pt x="280297" y="18710"/>
                      </a:cubicBezTo>
                      <a:cubicBezTo>
                        <a:pt x="360414" y="64765"/>
                        <a:pt x="419424" y="186379"/>
                        <a:pt x="420559" y="402905"/>
                      </a:cubicBezTo>
                      <a:lnTo>
                        <a:pt x="420559" y="4162350"/>
                      </a:lnTo>
                      <a:lnTo>
                        <a:pt x="0" y="4162350"/>
                      </a:lnTo>
                      <a:lnTo>
                        <a:pt x="0" y="405695"/>
                      </a:lnTo>
                      <a:cubicBezTo>
                        <a:pt x="1135" y="185660"/>
                        <a:pt x="59237" y="64045"/>
                        <a:pt x="140262" y="19070"/>
                      </a:cubicBezTo>
                      <a:close/>
                    </a:path>
                  </a:pathLst>
                </a:custGeom>
                <a:solidFill>
                  <a:srgbClr val="2A4A82"/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0" y="79375"/>
                  <a:ext cx="420559" cy="40829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250"/>
                    </a:lnSpc>
                  </a:pPr>
                  <a:endParaRPr/>
                </a:p>
              </p:txBody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513955" y="2933784"/>
                <a:ext cx="2152439" cy="6115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680"/>
                  </a:lnSpc>
                  <a:spcBef>
                    <a:spcPct val="0"/>
                  </a:spcBef>
                </a:pPr>
                <a:r>
                  <a:rPr lang="en-US" sz="3600" b="1" spc="72" dirty="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Hungary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3537635" y="2911714"/>
                <a:ext cx="2152439" cy="70866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  <a:spcBef>
                    <a:spcPct val="0"/>
                  </a:spcBef>
                </a:pPr>
                <a:r>
                  <a:rPr lang="en-US" sz="4200" b="1" spc="84" dirty="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0.69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5685625" y="2414583"/>
              <a:ext cx="1550523" cy="1552315"/>
            </a:xfrm>
            <a:custGeom>
              <a:avLst/>
              <a:gdLst/>
              <a:ahLst/>
              <a:cxnLst/>
              <a:rect l="l" t="t" r="r" b="b"/>
              <a:pathLst>
                <a:path w="1439332" h="1439332">
                  <a:moveTo>
                    <a:pt x="0" y="0"/>
                  </a:moveTo>
                  <a:lnTo>
                    <a:pt x="1439332" y="0"/>
                  </a:lnTo>
                  <a:lnTo>
                    <a:pt x="1439332" y="1439332"/>
                  </a:lnTo>
                  <a:lnTo>
                    <a:pt x="0" y="1439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886357-F9AD-D11E-A935-8BE940BB0E2B}"/>
              </a:ext>
            </a:extLst>
          </p:cNvPr>
          <p:cNvGrpSpPr/>
          <p:nvPr/>
        </p:nvGrpSpPr>
        <p:grpSpPr>
          <a:xfrm>
            <a:off x="4800600" y="3953715"/>
            <a:ext cx="11490547" cy="1491748"/>
            <a:chOff x="4863850" y="3953715"/>
            <a:chExt cx="11490547" cy="1491748"/>
          </a:xfrm>
        </p:grpSpPr>
        <p:grpSp>
          <p:nvGrpSpPr>
            <p:cNvPr id="5" name="Group 5"/>
            <p:cNvGrpSpPr/>
            <p:nvPr/>
          </p:nvGrpSpPr>
          <p:grpSpPr>
            <a:xfrm rot="5400000">
              <a:off x="9937848" y="-993360"/>
              <a:ext cx="1218754" cy="11366750"/>
              <a:chOff x="0" y="0"/>
              <a:chExt cx="420559" cy="364400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20559" cy="3644004"/>
              </a:xfrm>
              <a:custGeom>
                <a:avLst/>
                <a:gdLst/>
                <a:ahLst/>
                <a:cxnLst/>
                <a:rect l="l" t="t" r="r" b="b"/>
                <a:pathLst>
                  <a:path w="420559" h="3644004">
                    <a:moveTo>
                      <a:pt x="140262" y="19070"/>
                    </a:moveTo>
                    <a:cubicBezTo>
                      <a:pt x="161753" y="7556"/>
                      <a:pt x="186335" y="0"/>
                      <a:pt x="210393" y="0"/>
                    </a:cubicBezTo>
                    <a:cubicBezTo>
                      <a:pt x="234451" y="0"/>
                      <a:pt x="257601" y="6476"/>
                      <a:pt x="278935" y="17990"/>
                    </a:cubicBezTo>
                    <a:cubicBezTo>
                      <a:pt x="279389" y="18350"/>
                      <a:pt x="279843" y="18350"/>
                      <a:pt x="280297" y="18710"/>
                    </a:cubicBezTo>
                    <a:cubicBezTo>
                      <a:pt x="360414" y="64765"/>
                      <a:pt x="419424" y="186379"/>
                      <a:pt x="420559" y="391391"/>
                    </a:cubicBezTo>
                    <a:lnTo>
                      <a:pt x="420559" y="3644004"/>
                    </a:lnTo>
                    <a:lnTo>
                      <a:pt x="0" y="3644004"/>
                    </a:lnTo>
                    <a:lnTo>
                      <a:pt x="0" y="393805"/>
                    </a:lnTo>
                    <a:cubicBezTo>
                      <a:pt x="1135" y="185660"/>
                      <a:pt x="59237" y="64045"/>
                      <a:pt x="140262" y="19070"/>
                    </a:cubicBezTo>
                    <a:close/>
                  </a:path>
                </a:pathLst>
              </a:custGeom>
              <a:solidFill>
                <a:srgbClr val="2F5F98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79375"/>
                <a:ext cx="420559" cy="35646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50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4862649" y="3953715"/>
              <a:ext cx="1491748" cy="1491748"/>
            </a:xfrm>
            <a:custGeom>
              <a:avLst/>
              <a:gdLst/>
              <a:ahLst/>
              <a:cxnLst/>
              <a:rect l="l" t="t" r="r" b="b"/>
              <a:pathLst>
                <a:path w="1491748" h="1491748">
                  <a:moveTo>
                    <a:pt x="0" y="0"/>
                  </a:moveTo>
                  <a:lnTo>
                    <a:pt x="1491748" y="0"/>
                  </a:lnTo>
                  <a:lnTo>
                    <a:pt x="1491748" y="1491748"/>
                  </a:lnTo>
                  <a:lnTo>
                    <a:pt x="0" y="1491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01709" y="4318828"/>
              <a:ext cx="2568230" cy="611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80"/>
                </a:lnSpc>
                <a:spcBef>
                  <a:spcPct val="0"/>
                </a:spcBef>
              </a:pPr>
              <a:r>
                <a:rPr lang="en-US" sz="3600" b="1" spc="72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Singapore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561961" y="4375303"/>
              <a:ext cx="2152439" cy="708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60"/>
                </a:lnSpc>
                <a:spcBef>
                  <a:spcPct val="0"/>
                </a:spcBef>
              </a:pPr>
              <a:r>
                <a:rPr lang="en-US" sz="4200" b="1" spc="8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0.68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28B3B80-2AF9-A544-DEC3-05C27944D2E3}"/>
              </a:ext>
            </a:extLst>
          </p:cNvPr>
          <p:cNvGrpSpPr/>
          <p:nvPr/>
        </p:nvGrpSpPr>
        <p:grpSpPr>
          <a:xfrm>
            <a:off x="4648200" y="5407689"/>
            <a:ext cx="10156797" cy="1480447"/>
            <a:chOff x="4865489" y="5407689"/>
            <a:chExt cx="10156797" cy="1480447"/>
          </a:xfrm>
        </p:grpSpPr>
        <p:grpSp>
          <p:nvGrpSpPr>
            <p:cNvPr id="8" name="Group 8"/>
            <p:cNvGrpSpPr/>
            <p:nvPr/>
          </p:nvGrpSpPr>
          <p:grpSpPr>
            <a:xfrm rot="5400000">
              <a:off x="9290967" y="1118750"/>
              <a:ext cx="1218754" cy="10069709"/>
              <a:chOff x="0" y="24357"/>
              <a:chExt cx="420559" cy="321869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24357"/>
                <a:ext cx="420559" cy="3218695"/>
              </a:xfrm>
              <a:custGeom>
                <a:avLst/>
                <a:gdLst/>
                <a:ahLst/>
                <a:cxnLst/>
                <a:rect l="l" t="t" r="r" b="b"/>
                <a:pathLst>
                  <a:path w="420559" h="3218695">
                    <a:moveTo>
                      <a:pt x="140262" y="19070"/>
                    </a:moveTo>
                    <a:cubicBezTo>
                      <a:pt x="161753" y="7556"/>
                      <a:pt x="186335" y="0"/>
                      <a:pt x="210393" y="0"/>
                    </a:cubicBezTo>
                    <a:cubicBezTo>
                      <a:pt x="234451" y="0"/>
                      <a:pt x="257601" y="6476"/>
                      <a:pt x="278935" y="17990"/>
                    </a:cubicBezTo>
                    <a:cubicBezTo>
                      <a:pt x="279389" y="18350"/>
                      <a:pt x="279843" y="18350"/>
                      <a:pt x="280297" y="18710"/>
                    </a:cubicBezTo>
                    <a:cubicBezTo>
                      <a:pt x="360414" y="64765"/>
                      <a:pt x="419424" y="186379"/>
                      <a:pt x="420559" y="381944"/>
                    </a:cubicBezTo>
                    <a:lnTo>
                      <a:pt x="420559" y="3218695"/>
                    </a:lnTo>
                    <a:lnTo>
                      <a:pt x="0" y="3218695"/>
                    </a:lnTo>
                    <a:lnTo>
                      <a:pt x="0" y="384049"/>
                    </a:lnTo>
                    <a:cubicBezTo>
                      <a:pt x="1135" y="185660"/>
                      <a:pt x="59237" y="64045"/>
                      <a:pt x="140262" y="19070"/>
                    </a:cubicBezTo>
                    <a:close/>
                  </a:path>
                </a:pathLst>
              </a:custGeom>
              <a:solidFill>
                <a:srgbClr val="5F7D95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79375"/>
                <a:ext cx="420559" cy="31393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50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13541839" y="5407689"/>
              <a:ext cx="1480447" cy="1480447"/>
            </a:xfrm>
            <a:custGeom>
              <a:avLst/>
              <a:gdLst/>
              <a:ahLst/>
              <a:cxnLst/>
              <a:rect l="l" t="t" r="r" b="b"/>
              <a:pathLst>
                <a:path w="1480447" h="1480447">
                  <a:moveTo>
                    <a:pt x="0" y="0"/>
                  </a:moveTo>
                  <a:lnTo>
                    <a:pt x="1480447" y="0"/>
                  </a:lnTo>
                  <a:lnTo>
                    <a:pt x="1480447" y="1480448"/>
                  </a:lnTo>
                  <a:lnTo>
                    <a:pt x="0" y="148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6811" y="5830374"/>
              <a:ext cx="1955386" cy="611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80"/>
                </a:lnSpc>
                <a:spcBef>
                  <a:spcPct val="0"/>
                </a:spcBef>
              </a:pPr>
              <a:r>
                <a:rPr lang="en-US" sz="3600" b="1" spc="72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Mexico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20311" y="5833329"/>
              <a:ext cx="2152439" cy="708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60"/>
                </a:lnSpc>
                <a:spcBef>
                  <a:spcPct val="0"/>
                </a:spcBef>
              </a:pPr>
              <a:r>
                <a:rPr lang="en-US" sz="4200" b="1" spc="8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0.67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6700F00-072A-CB73-033D-E6F044154DB3}"/>
              </a:ext>
            </a:extLst>
          </p:cNvPr>
          <p:cNvGrpSpPr/>
          <p:nvPr/>
        </p:nvGrpSpPr>
        <p:grpSpPr>
          <a:xfrm>
            <a:off x="4572000" y="7024674"/>
            <a:ext cx="10220749" cy="1449463"/>
            <a:chOff x="4781474" y="7024674"/>
            <a:chExt cx="10220749" cy="1449463"/>
          </a:xfrm>
        </p:grpSpPr>
        <p:grpSp>
          <p:nvGrpSpPr>
            <p:cNvPr id="2" name="Group 2"/>
            <p:cNvGrpSpPr/>
            <p:nvPr/>
          </p:nvGrpSpPr>
          <p:grpSpPr>
            <a:xfrm rot="5400000">
              <a:off x="9212684" y="2653094"/>
              <a:ext cx="1218754" cy="10081174"/>
              <a:chOff x="0" y="0"/>
              <a:chExt cx="420559" cy="321869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420559" cy="3218695"/>
              </a:xfrm>
              <a:custGeom>
                <a:avLst/>
                <a:gdLst/>
                <a:ahLst/>
                <a:cxnLst/>
                <a:rect l="l" t="t" r="r" b="b"/>
                <a:pathLst>
                  <a:path w="420559" h="3218695">
                    <a:moveTo>
                      <a:pt x="140262" y="19070"/>
                    </a:moveTo>
                    <a:cubicBezTo>
                      <a:pt x="161753" y="7556"/>
                      <a:pt x="186335" y="0"/>
                      <a:pt x="210393" y="0"/>
                    </a:cubicBezTo>
                    <a:cubicBezTo>
                      <a:pt x="234451" y="0"/>
                      <a:pt x="257601" y="6476"/>
                      <a:pt x="278935" y="17990"/>
                    </a:cubicBezTo>
                    <a:cubicBezTo>
                      <a:pt x="279389" y="18350"/>
                      <a:pt x="279843" y="18350"/>
                      <a:pt x="280297" y="18710"/>
                    </a:cubicBezTo>
                    <a:cubicBezTo>
                      <a:pt x="360414" y="64765"/>
                      <a:pt x="419424" y="186379"/>
                      <a:pt x="420559" y="381944"/>
                    </a:cubicBezTo>
                    <a:lnTo>
                      <a:pt x="420559" y="3218695"/>
                    </a:lnTo>
                    <a:lnTo>
                      <a:pt x="0" y="3218695"/>
                    </a:lnTo>
                    <a:lnTo>
                      <a:pt x="0" y="384049"/>
                    </a:lnTo>
                    <a:cubicBezTo>
                      <a:pt x="1135" y="185660"/>
                      <a:pt x="59237" y="64045"/>
                      <a:pt x="140262" y="19070"/>
                    </a:cubicBezTo>
                    <a:close/>
                  </a:path>
                </a:pathLst>
              </a:custGeom>
              <a:solidFill>
                <a:srgbClr val="5F7D95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0" y="79375"/>
                <a:ext cx="420559" cy="31393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50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13561900" y="7024674"/>
              <a:ext cx="1440323" cy="1449463"/>
            </a:xfrm>
            <a:custGeom>
              <a:avLst/>
              <a:gdLst/>
              <a:ahLst/>
              <a:cxnLst/>
              <a:rect l="l" t="t" r="r" b="b"/>
              <a:pathLst>
                <a:path w="1379983" h="1379983">
                  <a:moveTo>
                    <a:pt x="0" y="0"/>
                  </a:moveTo>
                  <a:lnTo>
                    <a:pt x="1379983" y="0"/>
                  </a:lnTo>
                  <a:lnTo>
                    <a:pt x="1379983" y="1379983"/>
                  </a:lnTo>
                  <a:lnTo>
                    <a:pt x="0" y="1379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80333" y="7361175"/>
              <a:ext cx="3974074" cy="611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80"/>
                </a:lnSpc>
                <a:spcBef>
                  <a:spcPct val="0"/>
                </a:spcBef>
              </a:pPr>
              <a:r>
                <a:rPr lang="en-US" sz="3600" b="1" spc="72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Slovak Republic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08840" y="7361175"/>
              <a:ext cx="2152439" cy="708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60"/>
                </a:lnSpc>
                <a:spcBef>
                  <a:spcPct val="0"/>
                </a:spcBef>
              </a:pPr>
              <a:r>
                <a:rPr lang="en-US" sz="4200" b="1" spc="8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0.67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EF8A528-08E5-10B9-4132-761A19E7ED81}"/>
              </a:ext>
            </a:extLst>
          </p:cNvPr>
          <p:cNvGrpSpPr/>
          <p:nvPr/>
        </p:nvGrpSpPr>
        <p:grpSpPr>
          <a:xfrm>
            <a:off x="4724400" y="8490487"/>
            <a:ext cx="8999449" cy="1383556"/>
            <a:chOff x="4699314" y="8490487"/>
            <a:chExt cx="8999449" cy="138355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25E6971-A2DD-69EA-8220-9FEB4F482515}"/>
                </a:ext>
              </a:extLst>
            </p:cNvPr>
            <p:cNvGrpSpPr/>
            <p:nvPr/>
          </p:nvGrpSpPr>
          <p:grpSpPr>
            <a:xfrm>
              <a:off x="4699314" y="8580860"/>
              <a:ext cx="8915679" cy="1218754"/>
              <a:chOff x="4699314" y="8580860"/>
              <a:chExt cx="8915679" cy="1218754"/>
            </a:xfrm>
          </p:grpSpPr>
          <p:grpSp>
            <p:nvGrpSpPr>
              <p:cNvPr id="11" name="Group 11"/>
              <p:cNvGrpSpPr/>
              <p:nvPr/>
            </p:nvGrpSpPr>
            <p:grpSpPr>
              <a:xfrm rot="5400000">
                <a:off x="8547777" y="4732397"/>
                <a:ext cx="1218754" cy="8915679"/>
                <a:chOff x="0" y="0"/>
                <a:chExt cx="420559" cy="2819968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0" y="0"/>
                  <a:ext cx="420559" cy="2819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559" h="2819968">
                      <a:moveTo>
                        <a:pt x="140262" y="19070"/>
                      </a:moveTo>
                      <a:cubicBezTo>
                        <a:pt x="161753" y="7556"/>
                        <a:pt x="186335" y="0"/>
                        <a:pt x="210393" y="0"/>
                      </a:cubicBezTo>
                      <a:cubicBezTo>
                        <a:pt x="234451" y="0"/>
                        <a:pt x="257601" y="6476"/>
                        <a:pt x="278935" y="17990"/>
                      </a:cubicBezTo>
                      <a:cubicBezTo>
                        <a:pt x="279389" y="18350"/>
                        <a:pt x="279843" y="18350"/>
                        <a:pt x="280297" y="18710"/>
                      </a:cubicBezTo>
                      <a:cubicBezTo>
                        <a:pt x="360414" y="64765"/>
                        <a:pt x="419424" y="186379"/>
                        <a:pt x="420559" y="373087"/>
                      </a:cubicBezTo>
                      <a:lnTo>
                        <a:pt x="420559" y="2819968"/>
                      </a:lnTo>
                      <a:lnTo>
                        <a:pt x="0" y="2819968"/>
                      </a:lnTo>
                      <a:lnTo>
                        <a:pt x="0" y="374903"/>
                      </a:lnTo>
                      <a:cubicBezTo>
                        <a:pt x="1135" y="185660"/>
                        <a:pt x="59237" y="64045"/>
                        <a:pt x="140262" y="1907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0" y="79375"/>
                  <a:ext cx="420559" cy="274059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250"/>
                    </a:lnSpc>
                  </a:pPr>
                  <a:endParaRPr/>
                </a:p>
              </p:txBody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5508470" y="8884483"/>
                <a:ext cx="4381678" cy="6115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680"/>
                  </a:lnSpc>
                  <a:spcBef>
                    <a:spcPct val="0"/>
                  </a:spcBef>
                </a:pPr>
                <a:r>
                  <a:rPr lang="en-US" sz="3600" b="1" spc="72" dirty="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Hong Kong, China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277514" y="8860224"/>
                <a:ext cx="2152439" cy="70866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  <a:spcBef>
                    <a:spcPct val="0"/>
                  </a:spcBef>
                </a:pPr>
                <a:r>
                  <a:rPr lang="en-US" sz="4200" b="1" spc="84" dirty="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0.66</a:t>
                </a: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2315207" y="8490487"/>
              <a:ext cx="1383556" cy="1383556"/>
            </a:xfrm>
            <a:custGeom>
              <a:avLst/>
              <a:gdLst/>
              <a:ahLst/>
              <a:cxnLst/>
              <a:rect l="l" t="t" r="r" b="b"/>
              <a:pathLst>
                <a:path w="1383556" h="1383556">
                  <a:moveTo>
                    <a:pt x="0" y="0"/>
                  </a:moveTo>
                  <a:lnTo>
                    <a:pt x="1383556" y="0"/>
                  </a:lnTo>
                  <a:lnTo>
                    <a:pt x="1383556" y="1383556"/>
                  </a:lnTo>
                  <a:lnTo>
                    <a:pt x="0" y="138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76200" y="-551140"/>
            <a:ext cx="5027145" cy="12190734"/>
            <a:chOff x="0" y="0"/>
            <a:chExt cx="1740819" cy="38699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40819" cy="3869908"/>
            </a:xfrm>
            <a:custGeom>
              <a:avLst/>
              <a:gdLst/>
              <a:ahLst/>
              <a:cxnLst/>
              <a:rect l="l" t="t" r="r" b="b"/>
              <a:pathLst>
                <a:path w="1740819" h="3869908">
                  <a:moveTo>
                    <a:pt x="0" y="0"/>
                  </a:moveTo>
                  <a:lnTo>
                    <a:pt x="1740819" y="0"/>
                  </a:lnTo>
                  <a:lnTo>
                    <a:pt x="1740819" y="3869908"/>
                  </a:lnTo>
                  <a:lnTo>
                    <a:pt x="0" y="3869908"/>
                  </a:lnTo>
                  <a:close/>
                </a:path>
              </a:pathLst>
            </a:custGeom>
            <a:solidFill>
              <a:srgbClr val="213559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740819" cy="3917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47" name="TextBox 26"/>
          <p:cNvSpPr txBox="1"/>
          <p:nvPr/>
        </p:nvSpPr>
        <p:spPr>
          <a:xfrm>
            <a:off x="307816" y="2189165"/>
            <a:ext cx="4417046" cy="5908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00" spc="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Constructed by normalizing six indicators</a:t>
            </a:r>
          </a:p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spc="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Imports</a:t>
            </a:r>
          </a:p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spc="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Exports</a:t>
            </a:r>
          </a:p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spc="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GDP</a:t>
            </a:r>
          </a:p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spc="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HHI</a:t>
            </a:r>
          </a:p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spc="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Tariffs</a:t>
            </a:r>
          </a:p>
          <a:p>
            <a:pPr marL="539751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spc="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FDI</a:t>
            </a:r>
          </a:p>
          <a:p>
            <a:pPr algn="l">
              <a:lnSpc>
                <a:spcPts val="3250"/>
              </a:lnSpc>
            </a:pPr>
            <a:endParaRPr lang="en-US" sz="2500" spc="5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50"/>
              </a:lnSpc>
            </a:pPr>
            <a:r>
              <a:rPr lang="en-US" sz="2500" spc="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Higher scores indicate countries with stronger overall fundamentals and better investment attractiveness.</a:t>
            </a:r>
          </a:p>
        </p:txBody>
      </p:sp>
      <p:sp>
        <p:nvSpPr>
          <p:cNvPr id="48" name="TextBox 28"/>
          <p:cNvSpPr txBox="1"/>
          <p:nvPr/>
        </p:nvSpPr>
        <p:spPr>
          <a:xfrm>
            <a:off x="405289" y="791006"/>
            <a:ext cx="4689532" cy="612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spc="-236" dirty="0">
                <a:solidFill>
                  <a:srgbClr val="E3E9ED"/>
                </a:solidFill>
                <a:latin typeface="Poppins"/>
                <a:ea typeface="Poppins"/>
                <a:cs typeface="Poppins"/>
                <a:sym typeface="Poppins"/>
              </a:rPr>
              <a:t>INVESTMENT SCORE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FD7B9-EB2D-0CC9-F40C-38035ABCA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8CD987-47F3-9B2F-68DB-BD857B3249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52" r="-8816" b="-47661"/>
            </a:stretch>
          </a:blipFill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56ABB95-1DAF-E492-EFB1-9E86DB600388}"/>
              </a:ext>
            </a:extLst>
          </p:cNvPr>
          <p:cNvGrpSpPr/>
          <p:nvPr/>
        </p:nvGrpSpPr>
        <p:grpSpPr>
          <a:xfrm>
            <a:off x="-3482857" y="8638265"/>
            <a:ext cx="21971195" cy="1395351"/>
            <a:chOff x="-3364900" y="3008704"/>
            <a:chExt cx="22542279" cy="1846847"/>
          </a:xfrm>
          <a:solidFill>
            <a:srgbClr val="95B3D7"/>
          </a:solidFill>
        </p:grpSpPr>
        <p:grpSp>
          <p:nvGrpSpPr>
            <p:cNvPr id="69" name="Group 7">
              <a:extLst>
                <a:ext uri="{FF2B5EF4-FFF2-40B4-BE49-F238E27FC236}">
                  <a16:creationId xmlns:a16="http://schemas.microsoft.com/office/drawing/2014/main" id="{5085278F-E1DA-33C7-6D56-0C3C63C0CF79}"/>
                </a:ext>
              </a:extLst>
            </p:cNvPr>
            <p:cNvGrpSpPr/>
            <p:nvPr/>
          </p:nvGrpSpPr>
          <p:grpSpPr>
            <a:xfrm rot="-5400000">
              <a:off x="6982816" y="-7339012"/>
              <a:ext cx="1846847" cy="22542279"/>
              <a:chOff x="0" y="1394"/>
              <a:chExt cx="1118386" cy="2467727"/>
            </a:xfrm>
            <a:grpFill/>
          </p:grpSpPr>
          <p:sp>
            <p:nvSpPr>
              <p:cNvPr id="72" name="Freeform 8">
                <a:extLst>
                  <a:ext uri="{FF2B5EF4-FFF2-40B4-BE49-F238E27FC236}">
                    <a16:creationId xmlns:a16="http://schemas.microsoft.com/office/drawing/2014/main" id="{37A9CDB8-BCC8-BC47-2532-D52C4F337530}"/>
                  </a:ext>
                </a:extLst>
              </p:cNvPr>
              <p:cNvSpPr/>
              <p:nvPr/>
            </p:nvSpPr>
            <p:spPr>
              <a:xfrm>
                <a:off x="139152" y="1394"/>
                <a:ext cx="815309" cy="2467727"/>
              </a:xfrm>
              <a:prstGeom prst="rect">
                <a:avLst/>
              </a:prstGeom>
              <a:grpFill/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73" name="TextBox 9">
                <a:extLst>
                  <a:ext uri="{FF2B5EF4-FFF2-40B4-BE49-F238E27FC236}">
                    <a16:creationId xmlns:a16="http://schemas.microsoft.com/office/drawing/2014/main" id="{02A11A1B-9962-6456-1F3A-984D262F3A6E}"/>
                  </a:ext>
                </a:extLst>
              </p:cNvPr>
              <p:cNvSpPr txBox="1"/>
              <p:nvPr/>
            </p:nvSpPr>
            <p:spPr>
              <a:xfrm>
                <a:off x="0" y="79375"/>
                <a:ext cx="1118386" cy="2388352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50"/>
                  </a:lnSpc>
                </a:pPr>
                <a:endParaRPr sz="1400"/>
              </a:p>
            </p:txBody>
          </p:sp>
        </p:grpSp>
        <p:sp>
          <p:nvSpPr>
            <p:cNvPr id="70" name="TextBox 21">
              <a:extLst>
                <a:ext uri="{FF2B5EF4-FFF2-40B4-BE49-F238E27FC236}">
                  <a16:creationId xmlns:a16="http://schemas.microsoft.com/office/drawing/2014/main" id="{98AEBA47-27CC-4773-0C2F-5C1A44536E6F}"/>
                </a:ext>
              </a:extLst>
            </p:cNvPr>
            <p:cNvSpPr txBox="1"/>
            <p:nvPr/>
          </p:nvSpPr>
          <p:spPr>
            <a:xfrm>
              <a:off x="7437186" y="3943811"/>
              <a:ext cx="11673604" cy="48883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Countries with weaker fundamentals and limited near-term momentum.</a:t>
              </a:r>
            </a:p>
          </p:txBody>
        </p:sp>
        <p:sp>
          <p:nvSpPr>
            <p:cNvPr id="71" name="TextBox 22">
              <a:extLst>
                <a:ext uri="{FF2B5EF4-FFF2-40B4-BE49-F238E27FC236}">
                  <a16:creationId xmlns:a16="http://schemas.microsoft.com/office/drawing/2014/main" id="{A293C90A-C6BD-FC40-4C7C-7192E97B1BB4}"/>
                </a:ext>
              </a:extLst>
            </p:cNvPr>
            <p:cNvSpPr txBox="1"/>
            <p:nvPr/>
          </p:nvSpPr>
          <p:spPr>
            <a:xfrm>
              <a:off x="6839951" y="3098784"/>
              <a:ext cx="7249605" cy="694622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NZ" altLang="zh-CN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Deprioritized</a:t>
              </a:r>
              <a:r>
                <a:rPr lang="zh-CN" altLang="en-US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Markets</a:t>
              </a:r>
              <a:endParaRPr lang="en-US" sz="3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062ED49-02CF-8831-F661-B98C887EDE1E}"/>
              </a:ext>
            </a:extLst>
          </p:cNvPr>
          <p:cNvGrpSpPr/>
          <p:nvPr/>
        </p:nvGrpSpPr>
        <p:grpSpPr>
          <a:xfrm>
            <a:off x="-3124200" y="7326715"/>
            <a:ext cx="21894662" cy="1720922"/>
            <a:chOff x="-3434160" y="2432248"/>
            <a:chExt cx="22598805" cy="2423303"/>
          </a:xfrm>
        </p:grpSpPr>
        <p:grpSp>
          <p:nvGrpSpPr>
            <p:cNvPr id="51" name="Group 7">
              <a:extLst>
                <a:ext uri="{FF2B5EF4-FFF2-40B4-BE49-F238E27FC236}">
                  <a16:creationId xmlns:a16="http://schemas.microsoft.com/office/drawing/2014/main" id="{884D793E-F833-1E22-E1FE-EB433E9E36BA}"/>
                </a:ext>
              </a:extLst>
            </p:cNvPr>
            <p:cNvGrpSpPr/>
            <p:nvPr/>
          </p:nvGrpSpPr>
          <p:grpSpPr>
            <a:xfrm rot="-5400000">
              <a:off x="6653591" y="-7655503"/>
              <a:ext cx="2423303" cy="22598805"/>
              <a:chOff x="0" y="-6188"/>
              <a:chExt cx="1467468" cy="2473915"/>
            </a:xfrm>
          </p:grpSpPr>
          <p:sp>
            <p:nvSpPr>
              <p:cNvPr id="54" name="Freeform 8">
                <a:extLst>
                  <a:ext uri="{FF2B5EF4-FFF2-40B4-BE49-F238E27FC236}">
                    <a16:creationId xmlns:a16="http://schemas.microsoft.com/office/drawing/2014/main" id="{B4F7AF25-98E4-78C8-365E-F0E3CA521419}"/>
                  </a:ext>
                </a:extLst>
              </p:cNvPr>
              <p:cNvSpPr/>
              <p:nvPr/>
            </p:nvSpPr>
            <p:spPr>
              <a:xfrm>
                <a:off x="349081" y="-6188"/>
                <a:ext cx="1118387" cy="2467727"/>
              </a:xfrm>
              <a:prstGeom prst="rect">
                <a:avLst/>
              </a:prstGeom>
              <a:solidFill>
                <a:srgbClr val="376092"/>
              </a:solidFill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5" name="TextBox 9">
                <a:extLst>
                  <a:ext uri="{FF2B5EF4-FFF2-40B4-BE49-F238E27FC236}">
                    <a16:creationId xmlns:a16="http://schemas.microsoft.com/office/drawing/2014/main" id="{98D68851-834D-4943-F5BA-FFF5C8FBBCF3}"/>
                  </a:ext>
                </a:extLst>
              </p:cNvPr>
              <p:cNvSpPr txBox="1"/>
              <p:nvPr/>
            </p:nvSpPr>
            <p:spPr>
              <a:xfrm>
                <a:off x="0" y="79375"/>
                <a:ext cx="1118386" cy="23883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50"/>
                  </a:lnSpc>
                </a:pPr>
                <a:endParaRPr sz="1400"/>
              </a:p>
            </p:txBody>
          </p:sp>
        </p:grpSp>
        <p:sp>
          <p:nvSpPr>
            <p:cNvPr id="52" name="TextBox 21">
              <a:extLst>
                <a:ext uri="{FF2B5EF4-FFF2-40B4-BE49-F238E27FC236}">
                  <a16:creationId xmlns:a16="http://schemas.microsoft.com/office/drawing/2014/main" id="{73C3A8DF-252C-A78D-D14D-1A147FB048E7}"/>
                </a:ext>
              </a:extLst>
            </p:cNvPr>
            <p:cNvSpPr txBox="1"/>
            <p:nvPr/>
          </p:nvSpPr>
          <p:spPr>
            <a:xfrm>
              <a:off x="7334739" y="3447293"/>
              <a:ext cx="10149630" cy="520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Countries showing fast improvement from a lower base.</a:t>
              </a:r>
            </a:p>
          </p:txBody>
        </p:sp>
        <p:sp>
          <p:nvSpPr>
            <p:cNvPr id="53" name="TextBox 22">
              <a:extLst>
                <a:ext uri="{FF2B5EF4-FFF2-40B4-BE49-F238E27FC236}">
                  <a16:creationId xmlns:a16="http://schemas.microsoft.com/office/drawing/2014/main" id="{DF9D5437-A047-3F2B-1A04-5BAAF8667CA2}"/>
                </a:ext>
              </a:extLst>
            </p:cNvPr>
            <p:cNvSpPr txBox="1"/>
            <p:nvPr/>
          </p:nvSpPr>
          <p:spPr>
            <a:xfrm>
              <a:off x="6980306" y="2568777"/>
              <a:ext cx="7249605" cy="7801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NZ" altLang="zh-CN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Optional</a:t>
              </a:r>
              <a:r>
                <a:rPr lang="zh-CN" altLang="en-US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Growth</a:t>
              </a:r>
              <a:r>
                <a:rPr lang="zh-CN" altLang="en-US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Markets</a:t>
              </a:r>
              <a:endParaRPr lang="en-US" sz="3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D87028F-F92E-CCF9-4AAE-9F25A9C41194}"/>
              </a:ext>
            </a:extLst>
          </p:cNvPr>
          <p:cNvGrpSpPr/>
          <p:nvPr/>
        </p:nvGrpSpPr>
        <p:grpSpPr>
          <a:xfrm>
            <a:off x="-2743200" y="6071489"/>
            <a:ext cx="21629299" cy="1260712"/>
            <a:chOff x="-3377633" y="3008702"/>
            <a:chExt cx="22542279" cy="1846849"/>
          </a:xfrm>
          <a:solidFill>
            <a:srgbClr val="558ED5"/>
          </a:solidFill>
        </p:grpSpPr>
        <p:sp>
          <p:nvSpPr>
            <p:cNvPr id="66" name="Freeform 8">
              <a:extLst>
                <a:ext uri="{FF2B5EF4-FFF2-40B4-BE49-F238E27FC236}">
                  <a16:creationId xmlns:a16="http://schemas.microsoft.com/office/drawing/2014/main" id="{54F7BF32-35DB-0671-2DBC-F7F773F9C2D8}"/>
                </a:ext>
              </a:extLst>
            </p:cNvPr>
            <p:cNvSpPr/>
            <p:nvPr/>
          </p:nvSpPr>
          <p:spPr>
            <a:xfrm rot="16200000">
              <a:off x="6970082" y="-7339013"/>
              <a:ext cx="1846849" cy="2254227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4" name="TextBox 21">
              <a:extLst>
                <a:ext uri="{FF2B5EF4-FFF2-40B4-BE49-F238E27FC236}">
                  <a16:creationId xmlns:a16="http://schemas.microsoft.com/office/drawing/2014/main" id="{1A4D4454-1735-F7E2-EE86-068D45152C65}"/>
                </a:ext>
              </a:extLst>
            </p:cNvPr>
            <p:cNvSpPr txBox="1"/>
            <p:nvPr/>
          </p:nvSpPr>
          <p:spPr>
            <a:xfrm>
              <a:off x="7485142" y="3997029"/>
              <a:ext cx="10149629" cy="5410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Advanced, steady economies with strong fundamentals.</a:t>
              </a:r>
            </a:p>
          </p:txBody>
        </p:sp>
        <p:sp>
          <p:nvSpPr>
            <p:cNvPr id="65" name="TextBox 22">
              <a:extLst>
                <a:ext uri="{FF2B5EF4-FFF2-40B4-BE49-F238E27FC236}">
                  <a16:creationId xmlns:a16="http://schemas.microsoft.com/office/drawing/2014/main" id="{BE8769B7-C5A7-ABF6-ECD8-BE81FBC92E7E}"/>
                </a:ext>
              </a:extLst>
            </p:cNvPr>
            <p:cNvSpPr txBox="1"/>
            <p:nvPr/>
          </p:nvSpPr>
          <p:spPr>
            <a:xfrm>
              <a:off x="6840310" y="3162260"/>
              <a:ext cx="6201779" cy="97147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Stable</a:t>
              </a:r>
              <a:r>
                <a:rPr lang="zh-CN" altLang="en-US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Core</a:t>
              </a:r>
              <a:r>
                <a:rPr lang="zh-CN" altLang="en-US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Markets</a:t>
              </a:r>
              <a:endParaRPr lang="en-US" sz="3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8EA5518-B9DD-7894-1319-A94B04E47896}"/>
              </a:ext>
            </a:extLst>
          </p:cNvPr>
          <p:cNvGrpSpPr/>
          <p:nvPr/>
        </p:nvGrpSpPr>
        <p:grpSpPr>
          <a:xfrm>
            <a:off x="-2362200" y="4675283"/>
            <a:ext cx="21327023" cy="1409684"/>
            <a:chOff x="-3502552" y="2984920"/>
            <a:chExt cx="22542278" cy="1846848"/>
          </a:xfrm>
          <a:solidFill>
            <a:srgbClr val="17375E"/>
          </a:solidFill>
        </p:grpSpPr>
        <p:sp>
          <p:nvSpPr>
            <p:cNvPr id="60" name="Freeform 8">
              <a:extLst>
                <a:ext uri="{FF2B5EF4-FFF2-40B4-BE49-F238E27FC236}">
                  <a16:creationId xmlns:a16="http://schemas.microsoft.com/office/drawing/2014/main" id="{34F59A65-27A9-AEFE-144C-CF170D1F09C9}"/>
                </a:ext>
              </a:extLst>
            </p:cNvPr>
            <p:cNvSpPr/>
            <p:nvPr/>
          </p:nvSpPr>
          <p:spPr>
            <a:xfrm rot="16200000">
              <a:off x="6845163" y="-7362795"/>
              <a:ext cx="1846848" cy="22542278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8" name="TextBox 21">
              <a:extLst>
                <a:ext uri="{FF2B5EF4-FFF2-40B4-BE49-F238E27FC236}">
                  <a16:creationId xmlns:a16="http://schemas.microsoft.com/office/drawing/2014/main" id="{7DACA2C3-9EEC-301F-1C17-A276BB969BA0}"/>
                </a:ext>
              </a:extLst>
            </p:cNvPr>
            <p:cNvSpPr txBox="1"/>
            <p:nvPr/>
          </p:nvSpPr>
          <p:spPr>
            <a:xfrm>
              <a:off x="7333642" y="3922026"/>
              <a:ext cx="11045356" cy="483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Countries combining strong fundamentals with strong momentum.</a:t>
              </a:r>
            </a:p>
          </p:txBody>
        </p:sp>
        <p:sp>
          <p:nvSpPr>
            <p:cNvPr id="59" name="TextBox 22">
              <a:extLst>
                <a:ext uri="{FF2B5EF4-FFF2-40B4-BE49-F238E27FC236}">
                  <a16:creationId xmlns:a16="http://schemas.microsoft.com/office/drawing/2014/main" id="{43D9C13B-EE80-475D-0836-1DB4A59F3BD1}"/>
                </a:ext>
              </a:extLst>
            </p:cNvPr>
            <p:cNvSpPr txBox="1"/>
            <p:nvPr/>
          </p:nvSpPr>
          <p:spPr>
            <a:xfrm>
              <a:off x="6015254" y="3151576"/>
              <a:ext cx="6201779" cy="9502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Priority</a:t>
              </a:r>
              <a:r>
                <a:rPr lang="zh-CN" altLang="en-US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Markets</a:t>
              </a:r>
              <a:endParaRPr lang="en-US" sz="3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49" name="TextBox 18">
            <a:extLst>
              <a:ext uri="{FF2B5EF4-FFF2-40B4-BE49-F238E27FC236}">
                <a16:creationId xmlns:a16="http://schemas.microsoft.com/office/drawing/2014/main" id="{27072114-5786-FB9F-F8C8-ED40A83761EA}"/>
              </a:ext>
            </a:extLst>
          </p:cNvPr>
          <p:cNvSpPr txBox="1"/>
          <p:nvPr/>
        </p:nvSpPr>
        <p:spPr>
          <a:xfrm rot="5400000">
            <a:off x="3955576" y="892104"/>
            <a:ext cx="5233801" cy="107796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50"/>
              </a:lnSpc>
            </a:pPr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30FB074-B63C-0F6E-AA85-8ED95628CDA1}"/>
              </a:ext>
            </a:extLst>
          </p:cNvPr>
          <p:cNvSpPr txBox="1"/>
          <p:nvPr/>
        </p:nvSpPr>
        <p:spPr>
          <a:xfrm>
            <a:off x="2117665" y="375760"/>
            <a:ext cx="13872497" cy="1392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00"/>
              </a:lnSpc>
            </a:pPr>
            <a:r>
              <a:rPr lang="en-US" altLang="zh-CN" sz="4800" b="1" spc="-283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 4:</a:t>
            </a:r>
            <a:r>
              <a:rPr lang="en-US" altLang="zh-CN" sz="5000" b="1" spc="-283" dirty="0">
                <a:solidFill>
                  <a:srgbClr val="21355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4400" spc="-295" dirty="0">
                <a:solidFill>
                  <a:srgbClr val="213559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WHAT IS THE FUTURE OUTLOOK FOR THE KEY COUNTRIES TARGETED BY INVESTORS?</a:t>
            </a:r>
            <a:endParaRPr lang="en-US" sz="5000" spc="-295" dirty="0">
              <a:solidFill>
                <a:srgbClr val="213559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09EB240-0EDA-4D21-539C-E1E0EDC7FF92}"/>
              </a:ext>
            </a:extLst>
          </p:cNvPr>
          <p:cNvGrpSpPr/>
          <p:nvPr/>
        </p:nvGrpSpPr>
        <p:grpSpPr>
          <a:xfrm>
            <a:off x="-1492149" y="1860974"/>
            <a:ext cx="22844156" cy="1072960"/>
            <a:chOff x="-1676400" y="2016947"/>
            <a:chExt cx="22844156" cy="107296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43DC2AE3-1C7A-B907-09D0-EACB8C224995}"/>
                </a:ext>
              </a:extLst>
            </p:cNvPr>
            <p:cNvGrpSpPr/>
            <p:nvPr/>
          </p:nvGrpSpPr>
          <p:grpSpPr>
            <a:xfrm rot="-5400000">
              <a:off x="9209198" y="-8868651"/>
              <a:ext cx="1072960" cy="22844156"/>
              <a:chOff x="0" y="0"/>
              <a:chExt cx="1099536" cy="2467727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4892C3B-CB31-94F2-CA07-EA4DDFD7A8C3}"/>
                  </a:ext>
                </a:extLst>
              </p:cNvPr>
              <p:cNvSpPr/>
              <p:nvPr/>
            </p:nvSpPr>
            <p:spPr>
              <a:xfrm>
                <a:off x="0" y="0"/>
                <a:ext cx="1099536" cy="2467727"/>
              </a:xfrm>
              <a:prstGeom prst="rect">
                <a:avLst/>
              </a:prstGeom>
              <a:solidFill>
                <a:srgbClr val="2F5F98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44C43AC-CC1C-E968-2788-1CCF5FEB92EB}"/>
                  </a:ext>
                </a:extLst>
              </p:cNvPr>
              <p:cNvSpPr txBox="1"/>
              <p:nvPr/>
            </p:nvSpPr>
            <p:spPr>
              <a:xfrm>
                <a:off x="0" y="79375"/>
                <a:ext cx="1099536" cy="23883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50"/>
                  </a:lnSpc>
                </a:pPr>
                <a:endParaRPr/>
              </a:p>
            </p:txBody>
          </p:sp>
        </p:grp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633D860-9128-2506-4986-1E9E432E66F0}"/>
                </a:ext>
              </a:extLst>
            </p:cNvPr>
            <p:cNvSpPr txBox="1"/>
            <p:nvPr/>
          </p:nvSpPr>
          <p:spPr>
            <a:xfrm>
              <a:off x="6876730" y="2247551"/>
              <a:ext cx="10816806" cy="51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60"/>
                </a:lnSpc>
                <a:spcBef>
                  <a:spcPct val="0"/>
                </a:spcBef>
              </a:pPr>
              <a:r>
                <a:rPr lang="en-US" sz="3200" spc="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Supervised Machine Learning: Linear Regression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5E3499-7554-FDA5-5116-3B2CCBF7AAA0}"/>
              </a:ext>
            </a:extLst>
          </p:cNvPr>
          <p:cNvGrpSpPr/>
          <p:nvPr/>
        </p:nvGrpSpPr>
        <p:grpSpPr>
          <a:xfrm>
            <a:off x="-2536787" y="2937527"/>
            <a:ext cx="22542279" cy="1518100"/>
            <a:chOff x="-3377635" y="3008704"/>
            <a:chExt cx="22542279" cy="1846848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842BBEB-B9AA-4563-C013-58DB58BA9F98}"/>
                </a:ext>
              </a:extLst>
            </p:cNvPr>
            <p:cNvGrpSpPr/>
            <p:nvPr/>
          </p:nvGrpSpPr>
          <p:grpSpPr>
            <a:xfrm rot="-5400000">
              <a:off x="6970081" y="-7339012"/>
              <a:ext cx="1846848" cy="22542279"/>
              <a:chOff x="0" y="0"/>
              <a:chExt cx="1118386" cy="2467727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18E24BA-BF70-118F-27AC-F3DC7C6BDEC3}"/>
                  </a:ext>
                </a:extLst>
              </p:cNvPr>
              <p:cNvSpPr/>
              <p:nvPr/>
            </p:nvSpPr>
            <p:spPr>
              <a:xfrm>
                <a:off x="0" y="0"/>
                <a:ext cx="1118386" cy="2467727"/>
              </a:xfrm>
              <a:prstGeom prst="rect">
                <a:avLst/>
              </a:prstGeom>
              <a:solidFill>
                <a:srgbClr val="5F7D95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E50F2A5-4F7D-197C-3F24-54EB86274E59}"/>
                  </a:ext>
                </a:extLst>
              </p:cNvPr>
              <p:cNvSpPr txBox="1"/>
              <p:nvPr/>
            </p:nvSpPr>
            <p:spPr>
              <a:xfrm>
                <a:off x="0" y="79375"/>
                <a:ext cx="1118386" cy="23883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50"/>
                  </a:lnSpc>
                </a:pPr>
                <a:endParaRPr/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DA87FD7-D03F-DB65-B9D0-5DCC39714FB6}"/>
                </a:ext>
              </a:extLst>
            </p:cNvPr>
            <p:cNvSpPr txBox="1"/>
            <p:nvPr/>
          </p:nvSpPr>
          <p:spPr>
            <a:xfrm>
              <a:off x="6803181" y="3950234"/>
              <a:ext cx="10149629" cy="540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60"/>
                </a:lnSpc>
                <a:spcBef>
                  <a:spcPct val="0"/>
                </a:spcBef>
              </a:pPr>
              <a:r>
                <a:rPr lang="en-US" sz="3200" spc="64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Highest-rated markets show moderate growth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721E1D7-8FF5-D8D9-0E6B-F6437AFD2364}"/>
                </a:ext>
              </a:extLst>
            </p:cNvPr>
            <p:cNvSpPr txBox="1"/>
            <p:nvPr/>
          </p:nvSpPr>
          <p:spPr>
            <a:xfrm>
              <a:off x="6003243" y="3088644"/>
              <a:ext cx="6201779" cy="6798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60"/>
                </a:lnSpc>
                <a:spcBef>
                  <a:spcPct val="0"/>
                </a:spcBef>
              </a:pPr>
              <a:r>
                <a:rPr lang="en-US" sz="4200" b="1" spc="8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High-Score Trap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BC68477-5F28-B69D-DF8E-33179363B53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5400000">
            <a:off x="-2480312" y="348307"/>
            <a:ext cx="9186429" cy="10779676"/>
            <a:chOff x="0" y="0"/>
            <a:chExt cx="1121762" cy="247066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C7270F5-3E58-4287-A939-9A5C58379B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121762" cy="2470660"/>
            </a:xfrm>
            <a:custGeom>
              <a:avLst/>
              <a:gdLst/>
              <a:ahLst/>
              <a:cxnLst/>
              <a:rect l="l" t="t" r="r" b="b"/>
              <a:pathLst>
                <a:path w="1121762" h="2470660">
                  <a:moveTo>
                    <a:pt x="374123" y="19070"/>
                  </a:moveTo>
                  <a:cubicBezTo>
                    <a:pt x="431447" y="7556"/>
                    <a:pt x="497014" y="0"/>
                    <a:pt x="561183" y="0"/>
                  </a:cubicBezTo>
                  <a:cubicBezTo>
                    <a:pt x="625354" y="0"/>
                    <a:pt x="687103" y="6476"/>
                    <a:pt x="744007" y="17990"/>
                  </a:cubicBezTo>
                  <a:cubicBezTo>
                    <a:pt x="745219" y="18350"/>
                    <a:pt x="746429" y="18350"/>
                    <a:pt x="747639" y="18710"/>
                  </a:cubicBezTo>
                  <a:cubicBezTo>
                    <a:pt x="961337" y="64765"/>
                    <a:pt x="1118735" y="186379"/>
                    <a:pt x="1121762" y="365328"/>
                  </a:cubicBezTo>
                  <a:lnTo>
                    <a:pt x="1121762" y="2470660"/>
                  </a:lnTo>
                  <a:lnTo>
                    <a:pt x="0" y="2470660"/>
                  </a:lnTo>
                  <a:lnTo>
                    <a:pt x="0" y="366890"/>
                  </a:lnTo>
                  <a:cubicBezTo>
                    <a:pt x="3027" y="185660"/>
                    <a:pt x="158003" y="64045"/>
                    <a:pt x="374123" y="19070"/>
                  </a:cubicBezTo>
                  <a:close/>
                </a:path>
              </a:pathLst>
            </a:custGeom>
            <a:solidFill>
              <a:srgbClr val="E3E9ED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6B27347-D1AA-02DC-2A82-F0CB423BE29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79375"/>
              <a:ext cx="1121762" cy="2391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pic>
        <p:nvPicPr>
          <p:cNvPr id="27" name="Picture 20">
            <a:extLst>
              <a:ext uri="{FF2B5EF4-FFF2-40B4-BE49-F238E27FC236}">
                <a16:creationId xmlns:a16="http://schemas.microsoft.com/office/drawing/2014/main" id="{4E3D5464-0A7B-01B6-D96A-26852DF8DA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95" y="687890"/>
            <a:ext cx="6419112" cy="5518233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AF23ABEF-BC40-E01A-D7C7-B5190997B1D9}"/>
              </a:ext>
            </a:extLst>
          </p:cNvPr>
          <p:cNvGrpSpPr>
            <a:grpSpLocks/>
          </p:cNvGrpSpPr>
          <p:nvPr/>
        </p:nvGrpSpPr>
        <p:grpSpPr>
          <a:xfrm>
            <a:off x="19457" y="5430822"/>
            <a:ext cx="7095557" cy="4494098"/>
            <a:chOff x="9649348" y="4988278"/>
            <a:chExt cx="8135204" cy="5576627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C4DC79B-2813-A926-E9F2-FBBCF13917B9}"/>
                </a:ext>
              </a:extLst>
            </p:cNvPr>
            <p:cNvSpPr>
              <a:spLocks/>
            </p:cNvSpPr>
            <p:nvPr/>
          </p:nvSpPr>
          <p:spPr>
            <a:xfrm>
              <a:off x="11010864" y="7791830"/>
              <a:ext cx="2781336" cy="188105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8D2C4CE-D754-0D22-133B-CB112ECDD6AF}"/>
                </a:ext>
              </a:extLst>
            </p:cNvPr>
            <p:cNvGrpSpPr>
              <a:grpSpLocks/>
            </p:cNvGrpSpPr>
            <p:nvPr/>
          </p:nvGrpSpPr>
          <p:grpSpPr>
            <a:xfrm>
              <a:off x="9649348" y="4988278"/>
              <a:ext cx="8135204" cy="5576627"/>
              <a:chOff x="9649348" y="4988278"/>
              <a:chExt cx="8135204" cy="5576627"/>
            </a:xfrm>
          </p:grpSpPr>
          <p:sp>
            <p:nvSpPr>
              <p:cNvPr id="14" name="Arrow: Right 33">
                <a:extLst>
                  <a:ext uri="{FF2B5EF4-FFF2-40B4-BE49-F238E27FC236}">
                    <a16:creationId xmlns:a16="http://schemas.microsoft.com/office/drawing/2014/main" id="{B92601C4-4926-23A7-E8FF-539030667BC2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8076583" y="7478143"/>
                <a:ext cx="5157687" cy="640800"/>
              </a:xfrm>
              <a:prstGeom prst="rightArrow">
                <a:avLst/>
              </a:prstGeom>
              <a:gradFill flip="none" rotWithShape="1">
                <a:gsLst>
                  <a:gs pos="15000">
                    <a:schemeClr val="tx2">
                      <a:lumMod val="75000"/>
                    </a:schemeClr>
                  </a:gs>
                  <a:gs pos="78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99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Arrow: Right 33">
                <a:extLst>
                  <a:ext uri="{FF2B5EF4-FFF2-40B4-BE49-F238E27FC236}">
                    <a16:creationId xmlns:a16="http://schemas.microsoft.com/office/drawing/2014/main" id="{85DD62ED-7F72-7312-62EC-C7F31930D8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744200" y="9615178"/>
                <a:ext cx="6400800" cy="949727"/>
              </a:xfrm>
              <a:prstGeom prst="rightArrow">
                <a:avLst/>
              </a:prstGeom>
              <a:gradFill flip="none" rotWithShape="1">
                <a:gsLst>
                  <a:gs pos="15000">
                    <a:schemeClr val="tx2">
                      <a:lumMod val="75000"/>
                    </a:schemeClr>
                  </a:gs>
                  <a:gs pos="78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99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EF3123-9BD8-8635-48D0-D02B462B83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31261" y="9646715"/>
                <a:ext cx="1354159" cy="724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3600">
                    <a:latin typeface="Gabriola" pitchFamily="82" charset="0"/>
                    <a:cs typeface="Apple Chancery" panose="03020702040506060504" pitchFamily="66" charset="-79"/>
                  </a:defRPr>
                </a:lvl1pPr>
              </a:lstStyle>
              <a:p>
                <a:r>
                  <a:rPr lang="en-US" sz="3200" i="1" dirty="0"/>
                  <a:t>Low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93DD2A2-5067-5BF5-397C-1A2353E50B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33385" y="9774329"/>
                <a:ext cx="4114138" cy="648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Investment</a:t>
                </a:r>
                <a:r>
                  <a:rPr lang="zh-CN" altLang="en-US" sz="2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altLang="zh-CN" sz="2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Score</a:t>
                </a:r>
                <a:endParaRPr lang="en-US" sz="2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61AD96A-A0C9-DBC6-6A2B-E40B87277E71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9751957" y="5631255"/>
                <a:ext cx="1841480" cy="555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GDP</a:t>
                </a:r>
                <a:endParaRPr lang="en-US" sz="3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05B76BB7-D4A2-B071-066D-F4A35B1B4C5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49000" y="5524500"/>
                <a:ext cx="2781336" cy="1881052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F50BE97F-4BE1-A3B3-E429-4156530C89C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44600" y="5524500"/>
                <a:ext cx="2781336" cy="1881052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F803EDBB-B27D-7F9C-4B57-EE25D96E81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44600" y="7734300"/>
                <a:ext cx="2781336" cy="1881052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740A631-6841-025C-4847-853BF6C2B6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05176" y="9192722"/>
                <a:ext cx="979376" cy="648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3600">
                    <a:latin typeface="Gabriola" pitchFamily="82" charset="0"/>
                    <a:cs typeface="Apple Chancery" panose="03020702040506060504" pitchFamily="66" charset="-79"/>
                  </a:defRPr>
                </a:lvl1pPr>
              </a:lstStyle>
              <a:p>
                <a:r>
                  <a:rPr lang="en-US" sz="2800" i="1" dirty="0"/>
                  <a:t>High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5926FC-74A3-303D-99CB-2A926CE511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49348" y="5422846"/>
                <a:ext cx="1071872" cy="648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>
                    <a:latin typeface="Gabriola" pitchFamily="82" charset="0"/>
                    <a:cs typeface="APPLE CHANCERY" panose="03020702040506060504" pitchFamily="66" charset="-79"/>
                  </a:rPr>
                  <a:t>High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D2A025E-FECB-2BEB-7B04-1D1F3DC4C9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053037" y="6012226"/>
                <a:ext cx="2573310" cy="1029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Priority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Markets</a:t>
                </a:r>
                <a:endParaRPr lang="en-US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0CEBB8D-1AC7-EF2C-A77F-166A08A6A9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055978" y="8226337"/>
                <a:ext cx="2573310" cy="1029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Stable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Core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Markets</a:t>
                </a:r>
                <a:endParaRPr lang="en-US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22A437A-5D9E-8F3C-47EC-096C505F6B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28227" y="8243047"/>
                <a:ext cx="2573310" cy="1029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Z" altLang="zh-CN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Deprioritized</a:t>
                </a:r>
                <a:r>
                  <a:rPr lang="zh-CN" altLang="en-US" sz="2400" b="1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Markets</a:t>
                </a:r>
                <a:endParaRPr lang="en-US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816E69-BB29-3F71-7A2E-49843563F6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05006" y="5753127"/>
                <a:ext cx="2832907" cy="1487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Z" altLang="zh-CN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Optional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Growth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endParaRPr lang="en-NZ" altLang="zh-CN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Markets</a:t>
                </a:r>
                <a:endParaRPr lang="en-US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38589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1b36e95-0d50-42e9-958f-b63fa906beaa}" enabled="0" method="" siteId="{d1b36e95-0d50-42e9-958f-b63fa906be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554</Words>
  <Application>Microsoft Macintosh PowerPoint</Application>
  <PresentationFormat>Custom</PresentationFormat>
  <Paragraphs>145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Poppins</vt:lpstr>
      <vt:lpstr>Poppins Bold Italics</vt:lpstr>
      <vt:lpstr>Gabriola</vt:lpstr>
      <vt:lpstr>等线</vt:lpstr>
      <vt:lpstr>Arial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7033333333333presentation</dc:title>
  <dc:creator>Nicole</dc:creator>
  <cp:lastModifiedBy>Vishal Prabakaran</cp:lastModifiedBy>
  <cp:revision>75</cp:revision>
  <dcterms:created xsi:type="dcterms:W3CDTF">2006-08-16T00:00:00Z</dcterms:created>
  <dcterms:modified xsi:type="dcterms:W3CDTF">2025-11-28T12:36:08Z</dcterms:modified>
  <dc:identifier>DAG3-Baxo6E</dc:identifier>
</cp:coreProperties>
</file>